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84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20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6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6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jpg"/><Relationship Id="rId5" Type="http://schemas.openxmlformats.org/officeDocument/2006/relationships/image" Target="../media/image8.png"/><Relationship Id="rId10" Type="http://schemas.openxmlformats.org/officeDocument/2006/relationships/image" Target="../media/image20.jpg"/><Relationship Id="rId4" Type="http://schemas.openxmlformats.org/officeDocument/2006/relationships/image" Target="../media/image7.png"/><Relationship Id="rId9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6.jpe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6.jpe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6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3.jpg"/><Relationship Id="rId5" Type="http://schemas.openxmlformats.org/officeDocument/2006/relationships/image" Target="../media/image8.png"/><Relationship Id="rId10" Type="http://schemas.openxmlformats.org/officeDocument/2006/relationships/image" Target="../media/image32.jpg"/><Relationship Id="rId4" Type="http://schemas.openxmlformats.org/officeDocument/2006/relationships/image" Target="../media/image7.png"/><Relationship Id="rId9" Type="http://schemas.openxmlformats.org/officeDocument/2006/relationships/image" Target="../media/image3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8.png"/><Relationship Id="rId10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6.jpeg"/><Relationship Id="rId7" Type="http://schemas.openxmlformats.org/officeDocument/2006/relationships/image" Target="../media/image4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image" Target="../media/image6.jpe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.jpe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8.png"/><Relationship Id="rId10" Type="http://schemas.openxmlformats.org/officeDocument/2006/relationships/image" Target="../media/image63.png"/><Relationship Id="rId4" Type="http://schemas.openxmlformats.org/officeDocument/2006/relationships/image" Target="../media/image7.png"/><Relationship Id="rId9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.jpe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7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g"/><Relationship Id="rId3" Type="http://schemas.openxmlformats.org/officeDocument/2006/relationships/image" Target="../media/image6.jpeg"/><Relationship Id="rId7" Type="http://schemas.openxmlformats.org/officeDocument/2006/relationships/image" Target="../media/image7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7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jpe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8.png"/><Relationship Id="rId10" Type="http://schemas.openxmlformats.org/officeDocument/2006/relationships/image" Target="../media/image80.png"/><Relationship Id="rId4" Type="http://schemas.openxmlformats.org/officeDocument/2006/relationships/image" Target="../media/image7.png"/><Relationship Id="rId9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3" Type="http://schemas.openxmlformats.org/officeDocument/2006/relationships/image" Target="../media/image6.jpeg"/><Relationship Id="rId7" Type="http://schemas.openxmlformats.org/officeDocument/2006/relationships/image" Target="../media/image8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6.jpeg"/><Relationship Id="rId7" Type="http://schemas.openxmlformats.org/officeDocument/2006/relationships/image" Target="../media/image8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184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5055" y="2732288"/>
            <a:ext cx="3313889" cy="1620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Thành </a:t>
            </a:r>
            <a:r>
              <a:rPr lang="en-US" sz="1600" b="1" dirty="0" err="1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viên</a:t>
            </a: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nhóm</a:t>
            </a: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Nguyễn Phúc Thịnh – 23521503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Trần Đức Thịnh – 23521511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Trần Xuân Thịnh - 23521515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2425148" y="218631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2"/>
          <p:cNvSpPr/>
          <p:nvPr/>
        </p:nvSpPr>
        <p:spPr>
          <a:xfrm>
            <a:off x="432664" y="718457"/>
            <a:ext cx="8278672" cy="146785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r>
              <a:rPr lang="en-US" sz="1440" dirty="0"/>
              <a:t> </a:t>
            </a:r>
          </a:p>
          <a:p>
            <a:endParaRPr lang="en-US" sz="1440" b="1" dirty="0"/>
          </a:p>
          <a:p>
            <a:pPr algn="ctr"/>
            <a:r>
              <a:rPr lang="en-US" sz="3200" b="1" dirty="0">
                <a:solidFill>
                  <a:srgbClr val="00B0F0"/>
                </a:solidFill>
              </a:rPr>
              <a:t>Báo </a:t>
            </a:r>
            <a:r>
              <a:rPr lang="en-US" sz="3200" b="1" dirty="0" err="1">
                <a:solidFill>
                  <a:srgbClr val="00B0F0"/>
                </a:solidFill>
              </a:rPr>
              <a:t>cáo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cuối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kỳ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đồ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án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Xây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dựng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Nền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tảng</a:t>
            </a:r>
            <a:endParaRPr lang="en-US" sz="3200" dirty="0">
              <a:solidFill>
                <a:srgbClr val="00B0F0"/>
              </a:solidFill>
            </a:endParaRPr>
          </a:p>
          <a:p>
            <a:pPr algn="ctr"/>
            <a:r>
              <a:rPr lang="en-US" sz="3200" b="1" dirty="0">
                <a:solidFill>
                  <a:srgbClr val="00B0F0"/>
                </a:solidFill>
              </a:rPr>
              <a:t>"UIT-Go" Cloud-native</a:t>
            </a:r>
            <a:endParaRPr lang="en-US" sz="3200" dirty="0">
              <a:solidFill>
                <a:srgbClr val="00B0F0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0" y="1906927"/>
            <a:ext cx="9144000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400" b="1" dirty="0" err="1">
                <a:solidFill>
                  <a:srgbClr val="007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Lớp</a:t>
            </a:r>
            <a:r>
              <a:rPr lang="en-US" sz="2400" b="1" dirty="0">
                <a:solidFill>
                  <a:srgbClr val="007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SE360.Q11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2838" y="344881"/>
            <a:ext cx="4778324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4454D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630196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kiến trúc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64391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module chuyên sâu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335199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Quyết định thiết kế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216327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5099303" y="2335199"/>
            <a:ext cx="3336864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 và bài học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4540168" y="2216327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1266658" y="3026486"/>
            <a:ext cx="3335865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và hướng phát triển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07918" y="2907614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kiến trúc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Kiến trúc microservices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6674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Tổng quan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4476303203_mfVs2M.jpg"/>
          <p:cNvPicPr>
            <a:picLocks noChangeAspect="1"/>
          </p:cNvPicPr>
          <p:nvPr/>
        </p:nvPicPr>
        <p:blipFill>
          <a:blip r:embed="rId6"/>
          <a:srcRect l="12547" r="12547"/>
          <a:stretch/>
        </p:blipFill>
        <p:spPr>
          <a:xfrm>
            <a:off x="3401524" y="1043680"/>
            <a:ext cx="2340953" cy="17557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1053" y="1526134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Nền tảng đặt xe dựa trên microservices, Spring Boot với giao thức hybrid.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76674" y="296082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Thành phần chính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4476305719_td9zNW.jpg"/>
          <p:cNvPicPr>
            <a:picLocks noChangeAspect="1"/>
          </p:cNvPicPr>
          <p:nvPr/>
        </p:nvPicPr>
        <p:blipFill>
          <a:blip r:embed="rId7"/>
          <a:srcRect l="12547" r="12547"/>
          <a:stretch/>
        </p:blipFill>
        <p:spPr>
          <a:xfrm>
            <a:off x="3401524" y="2939380"/>
            <a:ext cx="2340953" cy="17557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7530" y="3414935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Gateway, User Service, Trip Service, Driver Service và Driver Simulator.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5897880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Giao tiếp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5897880" y="1526112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REST API, gRPC Streaming, RabbitMQ và OpenFeign cho các mục đích khác nhau.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5897880" y="2960805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Lợi ích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04358" y="3414935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Tách biệt dịch vụ, dễ mở rộng, hiệu suất cao và khả năng chịu lỗi tốt.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thức truyền thông hybrid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73332" y="2047055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7" name="Image 2" descr="https://oceandoc-ai.obs.ap-southeast-3.myhuaweicloud.com/ppt_list_page/_19052329831_LCg0aP1732514685662-0536160787312864.png?authorization=c2ltcGxlLWp3dCBhaz1zcGFya2Rlc2s4MDAwMDAwMDAwMDE7ZXhwPTMzMDkzMTQ2OTQ7YWxnbz1obWFjLXNoYTI1NjtzaWc9T3hwcDhvbUw1WGhtUVRNQ050c1pjQVc1cWxOTWQzT3FCQitYeVFiM1pxVT0=&amp;x_location=7YfmxI7B7uKO7jlRxIftd60XeLD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048" y="2149770"/>
            <a:ext cx="297847" cy="29784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573332" y="3031288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9" name="Image 3" descr="https://oceandoc-ai.obs.ap-southeast-3.myhuaweicloud.com/ppt_list_page/_19052329831_uTDMEZ1732514694176-08056073287339853.png?authorization=c2ltcGxlLWp3dCBhaz1zcGFya2Rlc2s4MDAwMDAwMDAwMDE7ZXhwPTMzMDkzMTQ3MDE7YWxnbz1obWFjLXNoYTI1NjtzaWc9ekxLaW9idTh2eEdNdzVVV0xXSXNsYzJWUFNzaGNESml5ZzJnNUdKZHNKQT0=&amp;x_location=7YfmxI7B7uKO7jlRxIftd60XeLD=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998" y="3125954"/>
            <a:ext cx="313947" cy="31394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573332" y="4059393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4" descr="https://oceandoc-ai.obs.ap-southeast-3.myhuaweicloud.com/ppt_list_page/_19052329831_y63oFi1732514699286-07869239987903869.png?authorization=c2ltcGxlLWp3dCBhaz1zcGFya2Rlc2s4MDAwMDAwMDAwMDE7ZXhwPTMzMDkzMTQ3MDY7YWxnbz1obWFjLXNoYTI1NjtzaWc9eXd1OXk4NisvcExnV3NOUmVIdHd4RzRKcnJCUkhYM3VxdStpUzJUTVI4RT0=&amp;x_location=7YfmxI7B7uKO7jlRxIftd60XeLD=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0073" y="4166134"/>
            <a:ext cx="289797" cy="28979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573332" y="1055972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3401" y="1166041"/>
            <a:ext cx="283140" cy="28314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37" y="363251"/>
            <a:ext cx="3436864" cy="458248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121080" y="83351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REST API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4121080" y="1064460"/>
            <a:ext cx="475372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Client-facing endpoints, CRUD operations, chuẩn mực và dễ sử dụng.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4121080" y="185394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gRPC Streaming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4121080" y="2085746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Cập nhật vị trí tài xế, giảm 95% băng thông, độ trễ thấp.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4121080" y="287437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RabbitMQ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4121080" y="3107131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Thông báo chuyến đi bất đồng bộ, decoupling services, đảm bảo delivery.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4121080" y="389480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OpenFeign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4121080" y="4128516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Service-to-service communication, declarative, dễ maintain.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Sơ đồ kiến trúc tổng thể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13" y="1094454"/>
            <a:ext cx="4197816" cy="1679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0413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1986677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771" y="1094454"/>
            <a:ext cx="4197816" cy="1679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5771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6372035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3" y="2923908"/>
            <a:ext cx="4197816" cy="1679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0413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1986677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771" y="2923908"/>
            <a:ext cx="4197816" cy="16791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65771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7" name="Shape 9"/>
          <p:cNvSpPr/>
          <p:nvPr/>
        </p:nvSpPr>
        <p:spPr>
          <a:xfrm>
            <a:off x="6372035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0"/>
          <p:cNvSpPr/>
          <p:nvPr/>
        </p:nvSpPr>
        <p:spPr>
          <a:xfrm>
            <a:off x="1867805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Kiến trúc microservices</a:t>
            </a:r>
            <a:endParaRPr lang="en-US" sz="1440" dirty="0"/>
          </a:p>
        </p:txBody>
      </p:sp>
      <p:pic>
        <p:nvPicPr>
          <p:cNvPr id="19" name="Image 6" descr="https://oceandoc-ai.obs.ap-southeast-3.myhuaweicloud.com:443/image_1764476303732_rIOHot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585" y="1482604"/>
            <a:ext cx="1005840" cy="1005840"/>
          </a:xfrm>
          <a:prstGeom prst="ellipse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867805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Hệ thống gồm API Gateway, User Service, Trip Service và Driver Service kết nối qua giao thức hybrid.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6253163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thức truyền thông</a:t>
            </a:r>
            <a:endParaRPr lang="en-US" sz="1440" dirty="0"/>
          </a:p>
        </p:txBody>
      </p:sp>
      <p:pic>
        <p:nvPicPr>
          <p:cNvPr id="22" name="Image 7" descr="https://oceandoc-ai.obs.ap-southeast-3.myhuaweicloud.com:443/image_1764476307429_1sPw90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87942" y="1482604"/>
            <a:ext cx="1005840" cy="1005840"/>
          </a:xfrm>
          <a:prstGeom prst="ellipse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53163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cho CRUD, gRPC cho vị trí tài xế, RabbitMQ cho thông báo bất đồng bộ.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1867805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Lưu trữ dữ liệu</a:t>
            </a:r>
            <a:endParaRPr lang="en-US" sz="1440" dirty="0"/>
          </a:p>
        </p:txBody>
      </p:sp>
      <p:pic>
        <p:nvPicPr>
          <p:cNvPr id="25" name="Image 8" descr="https://oceandoc-ai.obs.ap-southeast-3.myhuaweicloud.com:443/image_1764476311175_ZgHysE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02585" y="3312058"/>
            <a:ext cx="1005840" cy="1005840"/>
          </a:xfrm>
          <a:prstGeom prst="ellipse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867805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PostgreSQL cho User/Trip, Redis cho vị trí tài xế, database sharding theo địa lý.</a:t>
            </a:r>
            <a:endParaRPr lang="en-US" sz="1440" dirty="0"/>
          </a:p>
        </p:txBody>
      </p:sp>
      <p:sp>
        <p:nvSpPr>
          <p:cNvPr id="27" name="Text 16"/>
          <p:cNvSpPr/>
          <p:nvPr/>
        </p:nvSpPr>
        <p:spPr>
          <a:xfrm>
            <a:off x="6253163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Luồng xử lý</a:t>
            </a:r>
            <a:endParaRPr lang="en-US" sz="1440" dirty="0"/>
          </a:p>
        </p:txBody>
      </p:sp>
      <p:pic>
        <p:nvPicPr>
          <p:cNvPr id="28" name="Image 9" descr="https://oceandoc-ai.obs.ap-southeast-3.myhuaweicloud.com:443/image_1764476314451_fTRY8P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87942" y="3312058"/>
            <a:ext cx="1005840" cy="1005840"/>
          </a:xfrm>
          <a:prstGeom prst="ellipse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253163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 gửi yêu cầu qua Gateway, định tuyến đến service phù hợp, xử lý và trả kết quả.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 thành phần chính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4476309600_eIFnkQ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6227" y="1152860"/>
            <a:ext cx="1322772" cy="1322772"/>
          </a:xfrm>
          <a:prstGeom prst="ellipse">
            <a:avLst/>
          </a:prstGeom>
        </p:spPr>
      </p:pic>
      <p:pic>
        <p:nvPicPr>
          <p:cNvPr id="7" name="Image 3" descr="https://oceandoc-ai.obs.ap-southeast-3.myhuaweicloud.com:443/image_1764476313464_evPnUu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99152" y="1152860"/>
            <a:ext cx="1322772" cy="1322772"/>
          </a:xfrm>
          <a:prstGeom prst="ellipse">
            <a:avLst/>
          </a:prstGeom>
        </p:spPr>
      </p:pic>
      <p:pic>
        <p:nvPicPr>
          <p:cNvPr id="8" name="Image 4" descr="https://oceandoc-ai.obs.ap-southeast-3.myhuaweicloud.com:443/image_1764476316187_RRtErW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2076" y="1152860"/>
            <a:ext cx="1322772" cy="1322772"/>
          </a:xfrm>
          <a:prstGeom prst="ellipse">
            <a:avLst/>
          </a:prstGeom>
        </p:spPr>
      </p:pic>
      <p:pic>
        <p:nvPicPr>
          <p:cNvPr id="9" name="Image 5" descr="https://oceandoc-ai.obs.ap-southeast-3.myhuaweicloud.com:443/image_1764476320309_HCVMxp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45001" y="1152860"/>
            <a:ext cx="1322772" cy="1322772"/>
          </a:xfrm>
          <a:prstGeom prst="ellipse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3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4"/>
          <p:cNvSpPr/>
          <p:nvPr/>
        </p:nvSpPr>
        <p:spPr>
          <a:xfrm>
            <a:off x="2616272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5"/>
          <p:cNvSpPr/>
          <p:nvPr/>
        </p:nvSpPr>
        <p:spPr>
          <a:xfrm>
            <a:off x="2554567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Shape 6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Text 7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8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9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79514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279514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Điểm truy cập thống nhất, định tuyến thông minh, không chứa business logic.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2502439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Service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502439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người dùng, xác thực và phân quyền với JWT.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4725363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Trip Service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725363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chuyến đi, tính giá cước, tìm tài xế gần nhất.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6948288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Driver Service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948288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vị trí tài xế real-time, tìm kiếm tài xế gần nhất.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 giao tiếp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9603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249317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453002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196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2442716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6"/>
          <p:cNvSpPr/>
          <p:nvPr/>
        </p:nvSpPr>
        <p:spPr>
          <a:xfrm>
            <a:off x="4646400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7"/>
          <p:cNvSpPr/>
          <p:nvPr/>
        </p:nvSpPr>
        <p:spPr>
          <a:xfrm>
            <a:off x="4636114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8"/>
          <p:cNvSpPr/>
          <p:nvPr/>
        </p:nvSpPr>
        <p:spPr>
          <a:xfrm>
            <a:off x="6839799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196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9"/>
          <p:cNvSpPr/>
          <p:nvPr/>
        </p:nvSpPr>
        <p:spPr>
          <a:xfrm>
            <a:off x="6829513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0"/>
          <p:cNvSpPr/>
          <p:nvPr/>
        </p:nvSpPr>
        <p:spPr>
          <a:xfrm>
            <a:off x="257473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</a:t>
            </a:r>
            <a:endParaRPr lang="en-US" sz="1440" dirty="0"/>
          </a:p>
        </p:txBody>
      </p:sp>
      <p:pic>
        <p:nvPicPr>
          <p:cNvPr id="15" name="Image 2" descr="https://oceandoc-ai.obs.ap-southeast-3.myhuaweicloud.com:443/image_1764476309041_mXyXcC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268747" y="1093358"/>
            <a:ext cx="2026310" cy="1621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7473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Client-facing endpoints, CRUD operations, chuẩn mực, dễ sử dụng.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2450872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gRPC Streaming</a:t>
            </a:r>
            <a:endParaRPr lang="en-US" sz="1440" dirty="0"/>
          </a:p>
        </p:txBody>
      </p:sp>
      <p:pic>
        <p:nvPicPr>
          <p:cNvPr id="18" name="Image 3" descr="https://oceandoc-ai.obs.ap-southeast-3.myhuaweicloud.com:443/image_1764476312014_50kht6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462146" y="1093358"/>
            <a:ext cx="2026310" cy="1621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450872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Cập nhật vị trí tài xế liên tục, giảm 95% băng thông.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4644271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</a:t>
            </a:r>
            <a:endParaRPr lang="en-US" sz="1440" dirty="0"/>
          </a:p>
        </p:txBody>
      </p:sp>
      <p:pic>
        <p:nvPicPr>
          <p:cNvPr id="21" name="Image 4" descr="https://oceandoc-ai.obs.ap-southeast-3.myhuaweicloud.com:443/image_1764476315790_czKPez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655544" y="1093358"/>
            <a:ext cx="2026310" cy="1621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44271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Thông báo chuyến đi bất đồng bộ, decoupling services.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6837669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OpenFeign</a:t>
            </a:r>
            <a:endParaRPr lang="en-US" sz="1440" dirty="0"/>
          </a:p>
        </p:txBody>
      </p:sp>
      <p:pic>
        <p:nvPicPr>
          <p:cNvPr id="24" name="Image 5" descr="https://oceandoc-ai.obs.ap-southeast-3.myhuaweicloud.com:443/image_1764476319216_1zl7rD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848943" y="1093358"/>
            <a:ext cx="2026310" cy="1621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37669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Service-to-service communication, declarative, dễ maintain.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module chuyên sâu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xác thực phân quyền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13" y="1094454"/>
            <a:ext cx="4197816" cy="1679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0413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1986677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771" y="1094454"/>
            <a:ext cx="4197816" cy="1679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5771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6372035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3" y="2923908"/>
            <a:ext cx="4197816" cy="1679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0413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1986677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771" y="2923908"/>
            <a:ext cx="4197816" cy="16791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65771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7" name="Shape 9"/>
          <p:cNvSpPr/>
          <p:nvPr/>
        </p:nvSpPr>
        <p:spPr>
          <a:xfrm>
            <a:off x="6372035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0"/>
          <p:cNvSpPr/>
          <p:nvPr/>
        </p:nvSpPr>
        <p:spPr>
          <a:xfrm>
            <a:off x="1867805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Authentication</a:t>
            </a:r>
            <a:endParaRPr lang="en-US" sz="1440" dirty="0"/>
          </a:p>
        </p:txBody>
      </p:sp>
      <p:pic>
        <p:nvPicPr>
          <p:cNvPr id="19" name="Image 6" descr="https://oceandoc-ai.obs.ap-southeast-3.myhuaweicloud.com:443/image_1764476309832_qI2C3H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585" y="1482604"/>
            <a:ext cx="1005840" cy="1005840"/>
          </a:xfrm>
          <a:prstGeom prst="ellipse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867805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 thực người dùng bằng token, bảo mật cao, dễ mở rộng.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6253163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Role-based Access</a:t>
            </a:r>
            <a:endParaRPr lang="en-US" sz="1440" dirty="0"/>
          </a:p>
        </p:txBody>
      </p:sp>
      <p:pic>
        <p:nvPicPr>
          <p:cNvPr id="22" name="Image 7" descr="https://oceandoc-ai.obs.ap-southeast-3.myhuaweicloud.com:443/image_1764476313512_GxW0nd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87942" y="1482604"/>
            <a:ext cx="1005840" cy="1005840"/>
          </a:xfrm>
          <a:prstGeom prst="ellipse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53163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quyền theo vai trò tài xế/hành khách, kiểm soát truy cập chức năng.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1867805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Spring Security</a:t>
            </a:r>
            <a:endParaRPr lang="en-US" sz="1440" dirty="0"/>
          </a:p>
        </p:txBody>
      </p:sp>
      <p:pic>
        <p:nvPicPr>
          <p:cNvPr id="25" name="Image 8" descr="https://oceandoc-ai.obs.ap-southeast-3.myhuaweicloud.com:443/image_1764476316302_meopAg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02585" y="3312058"/>
            <a:ext cx="1005840" cy="1005840"/>
          </a:xfrm>
          <a:prstGeom prst="ellipse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867805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bảo mật mạnh mẽ, tích hợp JWT, quản lý phiên đăng nhập.</a:t>
            </a:r>
            <a:endParaRPr lang="en-US" sz="1440" dirty="0"/>
          </a:p>
        </p:txBody>
      </p:sp>
      <p:sp>
        <p:nvSpPr>
          <p:cNvPr id="27" name="Text 16"/>
          <p:cNvSpPr/>
          <p:nvPr/>
        </p:nvSpPr>
        <p:spPr>
          <a:xfrm>
            <a:off x="6253163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Management</a:t>
            </a:r>
            <a:endParaRPr lang="en-US" sz="1440" dirty="0"/>
          </a:p>
        </p:txBody>
      </p:sp>
      <p:pic>
        <p:nvPicPr>
          <p:cNvPr id="28" name="Image 9" descr="https://oceandoc-ai.obs.ap-southeast-3.myhuaweicloud.com:443/image_1764476319233_kCDPTx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87942" y="3312058"/>
            <a:ext cx="1005840" cy="1005840"/>
          </a:xfrm>
          <a:prstGeom prst="ellipse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253163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Đăng ký, đăng nhập, quản lý thông tin người dùng trong PostgreSQL.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quản lý chuyến đi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5400000">
            <a:off x="3208524" y="1327146"/>
            <a:ext cx="2726952" cy="272695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10800000">
            <a:off x="3208524" y="1327146"/>
            <a:ext cx="2726952" cy="272695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3208524" y="1327146"/>
            <a:ext cx="2726952" cy="2726952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3208524" y="1327146"/>
            <a:ext cx="2726952" cy="272695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421772" y="1500762"/>
            <a:ext cx="698067" cy="698067"/>
          </a:xfrm>
          <a:custGeom>
            <a:avLst/>
            <a:gdLst/>
            <a:ahLst/>
            <a:cxnLst/>
            <a:rect l="l" t="t" r="r" b="b"/>
            <a:pathLst>
              <a:path w="698067" h="698067">
                <a:moveTo>
                  <a:pt x="349034" y="0"/>
                </a:moveTo>
                <a:moveTo>
                  <a:pt x="349034" y="0"/>
                </a:moveTo>
                <a:cubicBezTo>
                  <a:pt x="541671" y="0"/>
                  <a:pt x="698067" y="156397"/>
                  <a:pt x="698067" y="349034"/>
                </a:cubicBezTo>
                <a:cubicBezTo>
                  <a:pt x="698067" y="541671"/>
                  <a:pt x="541671" y="698067"/>
                  <a:pt x="349034" y="698067"/>
                </a:cubicBezTo>
                <a:cubicBezTo>
                  <a:pt x="156397" y="698067"/>
                  <a:pt x="0" y="541671"/>
                  <a:pt x="0" y="349034"/>
                </a:cubicBezTo>
                <a:cubicBezTo>
                  <a:pt x="0" y="156397"/>
                  <a:pt x="156397" y="0"/>
                  <a:pt x="349034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1125" y="1650115"/>
            <a:ext cx="393253" cy="393253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5007135" y="1457139"/>
            <a:ext cx="698067" cy="698067"/>
          </a:xfrm>
          <a:custGeom>
            <a:avLst/>
            <a:gdLst/>
            <a:ahLst/>
            <a:cxnLst/>
            <a:rect l="l" t="t" r="r" b="b"/>
            <a:pathLst>
              <a:path w="698067" h="698067">
                <a:moveTo>
                  <a:pt x="349034" y="0"/>
                </a:moveTo>
                <a:moveTo>
                  <a:pt x="349034" y="0"/>
                </a:moveTo>
                <a:cubicBezTo>
                  <a:pt x="541671" y="0"/>
                  <a:pt x="698067" y="156397"/>
                  <a:pt x="698067" y="349034"/>
                </a:cubicBezTo>
                <a:cubicBezTo>
                  <a:pt x="698067" y="541671"/>
                  <a:pt x="541671" y="698067"/>
                  <a:pt x="349034" y="698067"/>
                </a:cubicBezTo>
                <a:cubicBezTo>
                  <a:pt x="156397" y="698067"/>
                  <a:pt x="0" y="541671"/>
                  <a:pt x="0" y="349034"/>
                </a:cubicBezTo>
                <a:cubicBezTo>
                  <a:pt x="0" y="156397"/>
                  <a:pt x="156397" y="0"/>
                  <a:pt x="349034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2684" y="1595870"/>
            <a:ext cx="421802" cy="391946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3421772" y="3141700"/>
            <a:ext cx="674547" cy="674547"/>
          </a:xfrm>
          <a:custGeom>
            <a:avLst/>
            <a:gdLst/>
            <a:ahLst/>
            <a:cxnLst/>
            <a:rect l="l" t="t" r="r" b="b"/>
            <a:pathLst>
              <a:path w="674547" h="674547">
                <a:moveTo>
                  <a:pt x="337273" y="0"/>
                </a:moveTo>
                <a:moveTo>
                  <a:pt x="337273" y="0"/>
                </a:moveTo>
                <a:cubicBezTo>
                  <a:pt x="523420" y="0"/>
                  <a:pt x="674547" y="151127"/>
                  <a:pt x="674547" y="337273"/>
                </a:cubicBezTo>
                <a:cubicBezTo>
                  <a:pt x="674547" y="523420"/>
                  <a:pt x="523420" y="674547"/>
                  <a:pt x="337273" y="674547"/>
                </a:cubicBezTo>
                <a:cubicBezTo>
                  <a:pt x="151127" y="674547"/>
                  <a:pt x="0" y="523420"/>
                  <a:pt x="0" y="337273"/>
                </a:cubicBezTo>
                <a:cubicBezTo>
                  <a:pt x="0" y="151127"/>
                  <a:pt x="151127" y="0"/>
                  <a:pt x="337273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093" y="3325085"/>
            <a:ext cx="380003" cy="344967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007135" y="3129940"/>
            <a:ext cx="686307" cy="686307"/>
          </a:xfrm>
          <a:custGeom>
            <a:avLst/>
            <a:gdLst/>
            <a:ahLst/>
            <a:cxnLst/>
            <a:rect l="l" t="t" r="r" b="b"/>
            <a:pathLst>
              <a:path w="686307" h="686307">
                <a:moveTo>
                  <a:pt x="343154" y="0"/>
                </a:moveTo>
                <a:moveTo>
                  <a:pt x="343154" y="0"/>
                </a:moveTo>
                <a:cubicBezTo>
                  <a:pt x="532545" y="0"/>
                  <a:pt x="686307" y="153762"/>
                  <a:pt x="686307" y="343154"/>
                </a:cubicBezTo>
                <a:cubicBezTo>
                  <a:pt x="686307" y="532545"/>
                  <a:pt x="532545" y="686307"/>
                  <a:pt x="343154" y="686307"/>
                </a:cubicBezTo>
                <a:cubicBezTo>
                  <a:pt x="153762" y="686307"/>
                  <a:pt x="0" y="532545"/>
                  <a:pt x="0" y="343154"/>
                </a:cubicBezTo>
                <a:cubicBezTo>
                  <a:pt x="0" y="153762"/>
                  <a:pt x="153762" y="0"/>
                  <a:pt x="343154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1760" y="3244565"/>
            <a:ext cx="469105" cy="469105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chuyến đi</a:t>
            </a:r>
            <a:endParaRPr lang="en-US" sz="1440" dirty="0"/>
          </a:p>
        </p:txBody>
      </p:sp>
      <p:sp>
        <p:nvSpPr>
          <p:cNvPr id="19" name="Text 7"/>
          <p:cNvSpPr/>
          <p:nvPr/>
        </p:nvSpPr>
        <p:spPr>
          <a:xfrm>
            <a:off x="253537" y="1370708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Xử lý đặt xe, tính giá, tìm tài xế gần nhất.</a:t>
            </a:r>
            <a:endParaRPr lang="en-US" sz="1440" dirty="0"/>
          </a:p>
        </p:txBody>
      </p:sp>
      <p:sp>
        <p:nvSpPr>
          <p:cNvPr id="20" name="Text 8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Công nghệ sử dụng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6002866" y="1370686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Boot, JPA, OpenFeign, RabbitMQ.</a:t>
            </a:r>
            <a:endParaRPr lang="en-US" sz="1440" dirty="0"/>
          </a:p>
        </p:txBody>
      </p:sp>
      <p:sp>
        <p:nvSpPr>
          <p:cNvPr id="22" name="Text 10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Cơ sở dữ liệu</a:t>
            </a:r>
            <a:endParaRPr lang="en-US" sz="1440" dirty="0"/>
          </a:p>
        </p:txBody>
      </p:sp>
      <p:sp>
        <p:nvSpPr>
          <p:cNvPr id="23" name="Text 11"/>
          <p:cNvSpPr/>
          <p:nvPr/>
        </p:nvSpPr>
        <p:spPr>
          <a:xfrm>
            <a:off x="253537" y="3595443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Sharding 2 PostgreSQL theo địa lý.</a:t>
            </a:r>
            <a:endParaRPr lang="en-US" sz="1440" dirty="0"/>
          </a:p>
        </p:txBody>
      </p:sp>
      <p:sp>
        <p:nvSpPr>
          <p:cNvPr id="24" name="Text 12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Chức năng chính</a:t>
            </a:r>
            <a:endParaRPr lang="en-US" sz="1440" dirty="0"/>
          </a:p>
        </p:txBody>
      </p:sp>
      <p:sp>
        <p:nvSpPr>
          <p:cNvPr id="25" name="Text 13"/>
          <p:cNvSpPr/>
          <p:nvPr/>
        </p:nvSpPr>
        <p:spPr>
          <a:xfrm>
            <a:off x="6002866" y="3595443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 chuyến, ước tính giá, theo dõi trạng thái.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theo dõi vị trí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973042" y="3895924"/>
            <a:ext cx="6888227" cy="681016"/>
          </a:xfrm>
          <a:custGeom>
            <a:avLst/>
            <a:gdLst/>
            <a:ahLst/>
            <a:cxnLst/>
            <a:rect l="l" t="t" r="r" b="b"/>
            <a:pathLst>
              <a:path w="6888227" h="681016">
                <a:moveTo>
                  <a:pt x="0" y="0"/>
                </a:moveTo>
                <a:moveTo>
                  <a:pt x="0" y="0"/>
                </a:moveTo>
                <a:lnTo>
                  <a:pt x="6888227" y="0"/>
                </a:lnTo>
                <a:lnTo>
                  <a:pt x="6888227" y="681016"/>
                </a:lnTo>
                <a:lnTo>
                  <a:pt x="0" y="681016"/>
                </a:lnTo>
                <a:close/>
              </a:path>
            </a:pathLst>
          </a:custGeom>
          <a:solidFill>
            <a:srgbClr val="5049D5">
              <a:alpha val="7843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2298578" y="3125722"/>
            <a:ext cx="6562691" cy="681016"/>
          </a:xfrm>
          <a:custGeom>
            <a:avLst/>
            <a:gdLst/>
            <a:ahLst/>
            <a:cxnLst/>
            <a:rect l="l" t="t" r="r" b="b"/>
            <a:pathLst>
              <a:path w="6562691" h="681016">
                <a:moveTo>
                  <a:pt x="0" y="0"/>
                </a:moveTo>
                <a:moveTo>
                  <a:pt x="0" y="0"/>
                </a:moveTo>
                <a:lnTo>
                  <a:pt x="6562691" y="0"/>
                </a:lnTo>
                <a:lnTo>
                  <a:pt x="6562691" y="681016"/>
                </a:lnTo>
                <a:lnTo>
                  <a:pt x="0" y="681016"/>
                </a:lnTo>
                <a:close/>
              </a:path>
            </a:pathLst>
          </a:custGeom>
          <a:solidFill>
            <a:srgbClr val="5049D5">
              <a:alpha val="7843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391034" y="2347929"/>
            <a:ext cx="6470234" cy="681016"/>
          </a:xfrm>
          <a:custGeom>
            <a:avLst/>
            <a:gdLst/>
            <a:ahLst/>
            <a:cxnLst/>
            <a:rect l="l" t="t" r="r" b="b"/>
            <a:pathLst>
              <a:path w="6470234" h="681016">
                <a:moveTo>
                  <a:pt x="0" y="0"/>
                </a:moveTo>
                <a:moveTo>
                  <a:pt x="0" y="0"/>
                </a:moveTo>
                <a:lnTo>
                  <a:pt x="6470234" y="0"/>
                </a:lnTo>
                <a:lnTo>
                  <a:pt x="6470234" y="681016"/>
                </a:lnTo>
                <a:lnTo>
                  <a:pt x="0" y="681016"/>
                </a:lnTo>
                <a:close/>
              </a:path>
            </a:pathLst>
          </a:custGeom>
          <a:solidFill>
            <a:srgbClr val="5049D5">
              <a:alpha val="7059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1973042" y="1062408"/>
            <a:ext cx="6888227" cy="1209632"/>
          </a:xfrm>
          <a:custGeom>
            <a:avLst/>
            <a:gdLst/>
            <a:ahLst/>
            <a:cxnLst/>
            <a:rect l="l" t="t" r="r" b="b"/>
            <a:pathLst>
              <a:path w="6888227" h="1209632">
                <a:moveTo>
                  <a:pt x="0" y="0"/>
                </a:moveTo>
                <a:moveTo>
                  <a:pt x="0" y="0"/>
                </a:moveTo>
                <a:lnTo>
                  <a:pt x="6888227" y="0"/>
                </a:lnTo>
                <a:lnTo>
                  <a:pt x="6888227" y="1209632"/>
                </a:lnTo>
                <a:lnTo>
                  <a:pt x="0" y="1209632"/>
                </a:lnTo>
                <a:close/>
              </a:path>
            </a:pathLst>
          </a:custGeom>
          <a:solidFill>
            <a:srgbClr val="5049D5">
              <a:alpha val="5882"/>
            </a:srgbClr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7048" y="900517"/>
            <a:ext cx="3911987" cy="39119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6847" y="1562969"/>
            <a:ext cx="237984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796847" y="2394393"/>
            <a:ext cx="237984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1189521" y="3162457"/>
            <a:ext cx="1594495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1570296" y="3908086"/>
            <a:ext cx="832945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4594819" y="1301464"/>
            <a:ext cx="418342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Boot, Redis Geospatial, gRPC, RabbitMQ cho quản lý vị trí tài xế.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875535" y="2505557"/>
            <a:ext cx="213924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Chức năng chính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3241531" y="3283350"/>
            <a:ext cx="206440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Lưu trữ dữ liệu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3569964" y="4053552"/>
            <a:ext cx="188933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Giao tiếp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2544062" y="1484344"/>
            <a:ext cx="205075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Công nghệ sử dụng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5014778" y="2322677"/>
            <a:ext cx="376347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vị trí tài xế theo thời gian thực, tìm kiếm tài xế gần nhất.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5305940" y="3100470"/>
            <a:ext cx="347230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 cho geospatial queries với hiệu suất cao và độ trễ thấp.</a:t>
            </a:r>
            <a:endParaRPr lang="en-US" sz="1440" dirty="0"/>
          </a:p>
        </p:txBody>
      </p:sp>
      <p:sp>
        <p:nvSpPr>
          <p:cNvPr id="22" name="Text 17"/>
          <p:cNvSpPr/>
          <p:nvPr/>
        </p:nvSpPr>
        <p:spPr>
          <a:xfrm>
            <a:off x="5459294" y="3870672"/>
            <a:ext cx="331895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gRPC streaming giảm 95% băng thông, tiết kiệm 57% pin thiết bị.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database sharding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2936" y="1632376"/>
            <a:ext cx="8158184" cy="0"/>
          </a:xfrm>
          <a:custGeom>
            <a:avLst/>
            <a:gdLst/>
            <a:ahLst/>
            <a:cxnLst/>
            <a:rect l="l" t="t" r="r" b="b"/>
            <a:pathLst>
              <a:path w="8158184">
                <a:moveTo>
                  <a:pt x="0" y="0"/>
                </a:moveTo>
                <a:moveTo>
                  <a:pt x="0" y="0"/>
                </a:moveTo>
                <a:lnTo>
                  <a:pt x="8158184" y="0"/>
                </a:lnTo>
              </a:path>
            </a:pathLst>
          </a:custGeom>
          <a:noFill/>
          <a:ln w="152400">
            <a:solidFill>
              <a:srgbClr val="5049D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1027484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694" y="1334286"/>
            <a:ext cx="493706" cy="49370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2562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5"/>
          <p:cNvSpPr/>
          <p:nvPr/>
        </p:nvSpPr>
        <p:spPr>
          <a:xfrm>
            <a:off x="3162019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841" y="1391898"/>
            <a:ext cx="378481" cy="37848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195882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8085" y="1303586"/>
            <a:ext cx="567722" cy="55510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129075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3282" y="1379282"/>
            <a:ext cx="403713" cy="403713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696733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9"/>
          <p:cNvSpPr/>
          <p:nvPr/>
        </p:nvSpPr>
        <p:spPr>
          <a:xfrm>
            <a:off x="4803749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0"/>
          <p:cNvSpPr/>
          <p:nvPr/>
        </p:nvSpPr>
        <p:spPr>
          <a:xfrm>
            <a:off x="682684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1"/>
          <p:cNvSpPr/>
          <p:nvPr/>
        </p:nvSpPr>
        <p:spPr>
          <a:xfrm>
            <a:off x="52562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Thiết kế shard key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525622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Sử dụng longitude làm khóa phân mảnh để phân phối dữ liệu theo vị trí địa lý.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696733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Routing logic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2696733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Triển khai AbstractRoutingDataSource để điều hướng truy vấn đến cơ sở dữ liệu phù hợp.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803749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Tránh cross-shard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4803749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Thiết kế cẩn thận để giảm thiểu truy vấn chéo giữa các mảnh dữ liệu.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82684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 pooling</a:t>
            </a:r>
            <a:endParaRPr lang="en-US" sz="1440" dirty="0"/>
          </a:p>
        </p:txBody>
      </p:sp>
      <p:sp>
        <p:nvSpPr>
          <p:cNvPr id="26" name="Text 18"/>
          <p:cNvSpPr/>
          <p:nvPr/>
        </p:nvSpPr>
        <p:spPr>
          <a:xfrm>
            <a:off x="6826842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pool kết nối riêng biệt cho từng shard để tối ưu hiệu suất.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message queue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96157" y="2983631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6290510" y="1148143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56032" y="1148143"/>
            <a:ext cx="3036722" cy="3438144"/>
          </a:xfrm>
          <a:custGeom>
            <a:avLst/>
            <a:gdLst/>
            <a:ahLst/>
            <a:cxnLst/>
            <a:rect l="l" t="t" r="r" b="b"/>
            <a:pathLst>
              <a:path w="3036722" h="3438144">
                <a:moveTo>
                  <a:pt x="0" y="0"/>
                </a:moveTo>
                <a:moveTo>
                  <a:pt x="0" y="0"/>
                </a:moveTo>
                <a:lnTo>
                  <a:pt x="3036722" y="0"/>
                </a:lnTo>
                <a:lnTo>
                  <a:pt x="3036722" y="3438144"/>
                </a:lnTo>
                <a:lnTo>
                  <a:pt x="0" y="3438144"/>
                </a:lnTo>
                <a:close/>
              </a:path>
            </a:pathLst>
          </a:custGeom>
          <a:solidFill>
            <a:srgbClr val="5049D5">
              <a:alpha val="0"/>
            </a:srgbClr>
          </a:solidFill>
          <a:ln w="9525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388939" y="2877593"/>
            <a:ext cx="2699034" cy="0"/>
          </a:xfrm>
          <a:custGeom>
            <a:avLst/>
            <a:gdLst/>
            <a:ahLst/>
            <a:cxnLst/>
            <a:rect l="l" t="t" r="r" b="b"/>
            <a:pathLst>
              <a:path w="2699034">
                <a:moveTo>
                  <a:pt x="0" y="0"/>
                </a:moveTo>
                <a:moveTo>
                  <a:pt x="0" y="0"/>
                </a:moveTo>
                <a:lnTo>
                  <a:pt x="2699034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6"/>
          <p:cNvSpPr/>
          <p:nvPr/>
        </p:nvSpPr>
        <p:spPr>
          <a:xfrm>
            <a:off x="325519" y="1266110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 cho Async</a:t>
            </a:r>
            <a:endParaRPr lang="en-US" sz="1440" dirty="0"/>
          </a:p>
        </p:txBody>
      </p:sp>
      <p:pic>
        <p:nvPicPr>
          <p:cNvPr id="11" name="Image 2" descr="https://oceandoc-ai.obs.ap-southeast-3.myhuaweicloud.com:443/image_1764476320644_21P4mY.jpg"/>
          <p:cNvPicPr>
            <a:picLocks noChangeAspect="1"/>
          </p:cNvPicPr>
          <p:nvPr/>
        </p:nvPicPr>
        <p:blipFill>
          <a:blip r:embed="rId6"/>
          <a:srcRect t="18750" b="18750"/>
          <a:stretch/>
        </p:blipFill>
        <p:spPr>
          <a:xfrm>
            <a:off x="3496157" y="1148143"/>
            <a:ext cx="2597458" cy="16234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19" y="1629459"/>
            <a:ext cx="287362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Đảm bảo gửi thông báo chuyến đi mới cho tài xế gần khu vực.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25519" y="3129464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Đơn giản và hiệu quả</a:t>
            </a:r>
            <a:endParaRPr lang="en-US" sz="1440" dirty="0"/>
          </a:p>
        </p:txBody>
      </p:sp>
      <p:pic>
        <p:nvPicPr>
          <p:cNvPr id="14" name="Image 3" descr="https://oceandoc-ai.obs.ap-southeast-3.myhuaweicloud.com:443/image_1764476324161_6JgWi1.jpg"/>
          <p:cNvPicPr>
            <a:picLocks noChangeAspect="1"/>
          </p:cNvPicPr>
          <p:nvPr/>
        </p:nvPicPr>
        <p:blipFill>
          <a:blip r:embed="rId7"/>
          <a:srcRect t="18750" b="18750"/>
          <a:stretch/>
        </p:blipFill>
        <p:spPr>
          <a:xfrm>
            <a:off x="6290510" y="2983631"/>
            <a:ext cx="2597458" cy="16234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5519" y="3477063"/>
            <a:ext cx="287362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Dễ sử dụng với @RabbitListener, tiêu thụ ít tài nguyên hơn Kafka.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3555609" y="3175184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Đảm bảo giao nhận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3555609" y="352278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Hỗ trợ durable queues, ACK/NACK, retry và dead letter queue.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397794" y="1357550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dễ dàng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397794" y="168432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UI mạnh mẽ giúp giám sát queue, message rates và kết nối.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Quyết định thiết kế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Redis cho Geospatial Queries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9439" y="768513"/>
            <a:ext cx="2956814" cy="36064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69451" y="1016496"/>
            <a:ext cx="223679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3469451" y="1706503"/>
            <a:ext cx="223679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3838521" y="2437543"/>
            <a:ext cx="1498650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4196408" y="3220647"/>
            <a:ext cx="782877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808437" y="961632"/>
            <a:ext cx="252029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Hiệu suất vượt trội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808437" y="1459315"/>
            <a:ext cx="25202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Độ trễ 5-8ms, xử lý 85,000 queries/giây, tiết kiệm bộ nhớ.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5685921" y="1382256"/>
            <a:ext cx="254074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Hỗ trợ Geospatial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5685921" y="1879939"/>
            <a:ext cx="2540741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GEOADD và GEORADIUS commands đơn giản, hiệu quả cho tìm kiếm tài xế.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1273233" y="3005585"/>
            <a:ext cx="268387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Dễ triển khai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1273233" y="3503268"/>
            <a:ext cx="268387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Không cần logic phức tạp, Docker image nhẹ, cài đặt đơn giản.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5051859" y="3377374"/>
            <a:ext cx="273499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Trade-offs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5051859" y="3875057"/>
            <a:ext cx="2734990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Dữ liệu trong RAM, đơn giản nhưng cần Redis Sentinel cho HA.</a:t>
            </a:r>
            <a:endParaRPr lang="en-US" sz="1440" dirty="0"/>
          </a:p>
        </p:txBody>
      </p:sp>
      <p:sp>
        <p:nvSpPr>
          <p:cNvPr id="19" name="Shape 14"/>
          <p:cNvSpPr/>
          <p:nvPr/>
        </p:nvSpPr>
        <p:spPr>
          <a:xfrm flipH="1">
            <a:off x="252298" y="892699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5"/>
          <p:cNvSpPr/>
          <p:nvPr/>
        </p:nvSpPr>
        <p:spPr>
          <a:xfrm>
            <a:off x="261442" y="975348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21" name="Shape 16"/>
          <p:cNvSpPr/>
          <p:nvPr/>
        </p:nvSpPr>
        <p:spPr>
          <a:xfrm flipH="1">
            <a:off x="650734" y="2918869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2" name="Text 17"/>
          <p:cNvSpPr/>
          <p:nvPr/>
        </p:nvSpPr>
        <p:spPr>
          <a:xfrm>
            <a:off x="659878" y="3001518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23" name="Shape 18"/>
          <p:cNvSpPr/>
          <p:nvPr/>
        </p:nvSpPr>
        <p:spPr>
          <a:xfrm flipH="1">
            <a:off x="8226662" y="1313323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Text 19"/>
          <p:cNvSpPr/>
          <p:nvPr/>
        </p:nvSpPr>
        <p:spPr>
          <a:xfrm>
            <a:off x="8235806" y="1395972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25" name="Shape 20"/>
          <p:cNvSpPr/>
          <p:nvPr/>
        </p:nvSpPr>
        <p:spPr>
          <a:xfrm flipH="1">
            <a:off x="7739566" y="3308441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Text 21"/>
          <p:cNvSpPr/>
          <p:nvPr/>
        </p:nvSpPr>
        <p:spPr>
          <a:xfrm>
            <a:off x="7748710" y="3391090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gRPC cho Location Updates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2936" y="1632376"/>
            <a:ext cx="8158184" cy="0"/>
          </a:xfrm>
          <a:custGeom>
            <a:avLst/>
            <a:gdLst/>
            <a:ahLst/>
            <a:cxnLst/>
            <a:rect l="l" t="t" r="r" b="b"/>
            <a:pathLst>
              <a:path w="8158184">
                <a:moveTo>
                  <a:pt x="0" y="0"/>
                </a:moveTo>
                <a:moveTo>
                  <a:pt x="0" y="0"/>
                </a:moveTo>
                <a:lnTo>
                  <a:pt x="8158184" y="0"/>
                </a:lnTo>
              </a:path>
            </a:pathLst>
          </a:custGeom>
          <a:noFill/>
          <a:ln w="152400">
            <a:solidFill>
              <a:srgbClr val="5049D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1027484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694" y="1334286"/>
            <a:ext cx="493706" cy="49370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2562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5"/>
          <p:cNvSpPr/>
          <p:nvPr/>
        </p:nvSpPr>
        <p:spPr>
          <a:xfrm>
            <a:off x="3162019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841" y="1391898"/>
            <a:ext cx="378481" cy="37848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195882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8085" y="1303586"/>
            <a:ext cx="567722" cy="55510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129075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3282" y="1379282"/>
            <a:ext cx="403713" cy="403713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696733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9"/>
          <p:cNvSpPr/>
          <p:nvPr/>
        </p:nvSpPr>
        <p:spPr>
          <a:xfrm>
            <a:off x="4803749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0"/>
          <p:cNvSpPr/>
          <p:nvPr/>
        </p:nvSpPr>
        <p:spPr>
          <a:xfrm>
            <a:off x="682684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1"/>
          <p:cNvSpPr/>
          <p:nvPr/>
        </p:nvSpPr>
        <p:spPr>
          <a:xfrm>
            <a:off x="52562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Tiết kiệm băng thông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525622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95% lưu lượng, chỉ 50 bytes/cập nhật so với REST 945 bytes.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696733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độ trễ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2696733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Độ trễ giảm 82%, từ 45ms xuống 8ms (P50).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803749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Tiết kiệm pin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4803749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57% tiêu thụ pin, từ 4.2% xuống 1.8%/giờ.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82684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Type Safety</a:t>
            </a:r>
            <a:endParaRPr lang="en-US" sz="1440" dirty="0"/>
          </a:p>
        </p:txBody>
      </p:sp>
      <p:sp>
        <p:nvSpPr>
          <p:cNvPr id="26" name="Text 18"/>
          <p:cNvSpPr/>
          <p:nvPr/>
        </p:nvSpPr>
        <p:spPr>
          <a:xfrm>
            <a:off x="6826842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Protocol Buffers đảm bảo kiểm tra kiểu dữ liệu, tự động sinh code.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cho CRUD Operations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01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304842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504386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2409655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6"/>
          <p:cNvSpPr/>
          <p:nvPr/>
        </p:nvSpPr>
        <p:spPr>
          <a:xfrm>
            <a:off x="466105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7"/>
          <p:cNvSpPr/>
          <p:nvPr/>
        </p:nvSpPr>
        <p:spPr>
          <a:xfrm>
            <a:off x="456631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Shape 8"/>
          <p:cNvSpPr/>
          <p:nvPr/>
        </p:nvSpPr>
        <p:spPr>
          <a:xfrm>
            <a:off x="68282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9"/>
          <p:cNvSpPr/>
          <p:nvPr/>
        </p:nvSpPr>
        <p:spPr>
          <a:xfrm>
            <a:off x="673346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0"/>
          <p:cNvSpPr/>
          <p:nvPr/>
        </p:nvSpPr>
        <p:spPr>
          <a:xfrm>
            <a:off x="484831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Lý do chọn REST</a:t>
            </a:r>
            <a:endParaRPr lang="en-US" sz="1440" dirty="0"/>
          </a:p>
        </p:txBody>
      </p:sp>
      <p:pic>
        <p:nvPicPr>
          <p:cNvPr id="15" name="Image 2" descr="https://oceandoc-ai.obs.ap-southeast-3.myhuaweicloud.com:443/image_1764476325110_2BYWWC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484632" y="3348104"/>
            <a:ext cx="1875434" cy="1499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831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Chuẩn mực, dễ test, browser-friendly, ecosystem phong phú.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2615405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Developer Experience</a:t>
            </a:r>
            <a:endParaRPr lang="en-US" sz="1440" dirty="0"/>
          </a:p>
        </p:txBody>
      </p:sp>
      <p:pic>
        <p:nvPicPr>
          <p:cNvPr id="18" name="Image 3" descr="https://oceandoc-ai.obs.ap-southeast-3.myhuaweicloud.com:443/image_1764476327980_WXc8AQ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648705" y="3348104"/>
            <a:ext cx="1875434" cy="1499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15405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Mọi developer đều biết, dễ test với curl, Postman.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4755452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Ecosystem phong phú</a:t>
            </a:r>
            <a:endParaRPr lang="en-US" sz="1440" dirty="0"/>
          </a:p>
        </p:txBody>
      </p:sp>
      <p:pic>
        <p:nvPicPr>
          <p:cNvPr id="21" name="Image 4" descr="https://oceandoc-ai.obs.ap-southeast-3.myhuaweicloud.com:443/image_1764476330815_ZGA01V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812778" y="3348104"/>
            <a:ext cx="1875434" cy="14996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5452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Spring MVC stable, Swagger/OpenAPI, nhiều tools hỗ trợ.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6886026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Debugging dễ dàng</a:t>
            </a:r>
            <a:endParaRPr lang="en-US" sz="1440" dirty="0"/>
          </a:p>
        </p:txBody>
      </p:sp>
      <p:pic>
        <p:nvPicPr>
          <p:cNvPr id="24" name="Image 5" descr="https://oceandoc-ai.obs.ap-southeast-3.myhuaweicloud.com:443/image_1764476334471_37xsJe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976851" y="3348104"/>
            <a:ext cx="1875434" cy="1499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86026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human-readable, Browser DevTools, log dễ đọc.</a:t>
            </a:r>
            <a:endParaRPr lang="en-US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 cho Async Messaging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3085139" y="1107892"/>
            <a:ext cx="2973722" cy="322153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139" y="1107892"/>
            <a:ext cx="2973722" cy="32215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27652" y="1634463"/>
            <a:ext cx="68869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4227652" y="2382435"/>
            <a:ext cx="68869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4087853" y="3064806"/>
            <a:ext cx="968295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4166140" y="3780784"/>
            <a:ext cx="81172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Four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69204" y="1320751"/>
            <a:ext cx="2750173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Phù hợp quy mô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269204" y="1630522"/>
            <a:ext cx="275017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Xử lý 0.5-5 msg/s, đơn giản hơn Kafka.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124694" y="1320751"/>
            <a:ext cx="276084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Đảm bảo gửi tin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6124651" y="1630522"/>
            <a:ext cx="276089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Hỗ trợ durable queues, ACK/NACK, retry và dead letter queue.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269204" y="3012781"/>
            <a:ext cx="2750173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Tài nguyên thấp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69204" y="3332074"/>
            <a:ext cx="275017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Chỉ dùng 150-200MB RAM, khởi động nhanh 5-10 giây.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124694" y="3012781"/>
            <a:ext cx="276084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dễ dàng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124694" y="3332074"/>
            <a:ext cx="276084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 UI mạnh mẽ giúp giám sát hàng đợi và gỡ lỗi trực quan.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Trade-offs đã chấp nhận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432" y="969009"/>
            <a:ext cx="2759752" cy="275975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432" y="969009"/>
            <a:ext cx="2759752" cy="275975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241720" y="1781957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5214104" y="1781957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4246693" y="3087872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278358" y="1469441"/>
            <a:ext cx="281002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Ưu điểm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78358" y="1782166"/>
            <a:ext cx="2810028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Hiệu suất cao, codebase đơn giản, dễ scale, phù hợp học tập.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6055865" y="1460240"/>
            <a:ext cx="285067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Nhược điểm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055614" y="1773022"/>
            <a:ext cx="2850923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Dữ liệu trong RAM, single point of failure, giới hạn bộ nhớ, không có truy vấn phức tạp.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1639282" y="3756193"/>
            <a:ext cx="586617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Biện pháp giảm thiểu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1609169" y="4058160"/>
            <a:ext cx="592566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 AOF, Redis Sentinel, chấp nhận giới hạn bộ nhớ, kết hợp PostgreSQL cho analytics.</a:t>
            </a:r>
            <a:endParaRPr lang="en-US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 và bài học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Debug hệ thống phân tán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4476335687_unDoRh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399" y="3689091"/>
            <a:ext cx="1159202" cy="1159202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4476332881_QZw6wB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399" y="2391265"/>
            <a:ext cx="1159202" cy="1159202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4476329901_gMbFy4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9399" y="1093438"/>
            <a:ext cx="1159202" cy="1159202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489399" y="3689091"/>
            <a:ext cx="8355361" cy="1159202"/>
          </a:xfrm>
          <a:custGeom>
            <a:avLst/>
            <a:gdLst/>
            <a:ahLst/>
            <a:cxnLst/>
            <a:rect l="l" t="t" r="r" b="b"/>
            <a:pathLst>
              <a:path w="8355361" h="1159202">
                <a:moveTo>
                  <a:pt x="134755" y="0"/>
                </a:moveTo>
                <a:moveTo>
                  <a:pt x="134755" y="0"/>
                </a:moveTo>
                <a:lnTo>
                  <a:pt x="8220606" y="0"/>
                </a:lnTo>
                <a:quadBezTo>
                  <a:pt x="8355361" y="0"/>
                  <a:pt x="8355361" y="134755"/>
                </a:quadBezTo>
                <a:lnTo>
                  <a:pt x="8355361" y="1024447"/>
                </a:lnTo>
                <a:quadBezTo>
                  <a:pt x="8355361" y="1159202"/>
                  <a:pt x="8220606" y="1159202"/>
                </a:quadBezTo>
                <a:lnTo>
                  <a:pt x="134755" y="1159202"/>
                </a:lnTo>
                <a:quadBezTo>
                  <a:pt x="0" y="1159202"/>
                  <a:pt x="0" y="1024447"/>
                </a:quadBezTo>
                <a:lnTo>
                  <a:pt x="0" y="134755"/>
                </a:lnTo>
                <a:quadBezTo>
                  <a:pt x="0" y="0"/>
                  <a:pt x="13475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3"/>
          <p:cNvSpPr/>
          <p:nvPr/>
        </p:nvSpPr>
        <p:spPr>
          <a:xfrm>
            <a:off x="489399" y="2391265"/>
            <a:ext cx="8355361" cy="1159202"/>
          </a:xfrm>
          <a:custGeom>
            <a:avLst/>
            <a:gdLst/>
            <a:ahLst/>
            <a:cxnLst/>
            <a:rect l="l" t="t" r="r" b="b"/>
            <a:pathLst>
              <a:path w="8355361" h="1159202">
                <a:moveTo>
                  <a:pt x="134755" y="0"/>
                </a:moveTo>
                <a:moveTo>
                  <a:pt x="134755" y="0"/>
                </a:moveTo>
                <a:lnTo>
                  <a:pt x="8220606" y="0"/>
                </a:lnTo>
                <a:quadBezTo>
                  <a:pt x="8355361" y="0"/>
                  <a:pt x="8355361" y="134755"/>
                </a:quadBezTo>
                <a:lnTo>
                  <a:pt x="8355361" y="1024447"/>
                </a:lnTo>
                <a:quadBezTo>
                  <a:pt x="8355361" y="1159202"/>
                  <a:pt x="8220606" y="1159202"/>
                </a:quadBezTo>
                <a:lnTo>
                  <a:pt x="134755" y="1159202"/>
                </a:lnTo>
                <a:quadBezTo>
                  <a:pt x="0" y="1159202"/>
                  <a:pt x="0" y="1024447"/>
                </a:quadBezTo>
                <a:lnTo>
                  <a:pt x="0" y="134755"/>
                </a:lnTo>
                <a:quadBezTo>
                  <a:pt x="0" y="0"/>
                  <a:pt x="13475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5196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4"/>
          <p:cNvSpPr/>
          <p:nvPr/>
        </p:nvSpPr>
        <p:spPr>
          <a:xfrm>
            <a:off x="489399" y="1093438"/>
            <a:ext cx="8355361" cy="1159202"/>
          </a:xfrm>
          <a:custGeom>
            <a:avLst/>
            <a:gdLst/>
            <a:ahLst/>
            <a:cxnLst/>
            <a:rect l="l" t="t" r="r" b="b"/>
            <a:pathLst>
              <a:path w="8355361" h="1159202">
                <a:moveTo>
                  <a:pt x="134755" y="0"/>
                </a:moveTo>
                <a:moveTo>
                  <a:pt x="134755" y="0"/>
                </a:moveTo>
                <a:lnTo>
                  <a:pt x="8220606" y="0"/>
                </a:lnTo>
                <a:quadBezTo>
                  <a:pt x="8355361" y="0"/>
                  <a:pt x="8355361" y="134755"/>
                </a:quadBezTo>
                <a:lnTo>
                  <a:pt x="8355361" y="1024447"/>
                </a:lnTo>
                <a:quadBezTo>
                  <a:pt x="8355361" y="1159202"/>
                  <a:pt x="8220606" y="1159202"/>
                </a:quadBezTo>
                <a:lnTo>
                  <a:pt x="134755" y="1159202"/>
                </a:lnTo>
                <a:quadBezTo>
                  <a:pt x="0" y="1159202"/>
                  <a:pt x="0" y="1024447"/>
                </a:quadBezTo>
                <a:lnTo>
                  <a:pt x="0" y="134755"/>
                </a:lnTo>
                <a:quadBezTo>
                  <a:pt x="0" y="0"/>
                  <a:pt x="13475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5"/>
          <p:cNvSpPr/>
          <p:nvPr/>
        </p:nvSpPr>
        <p:spPr>
          <a:xfrm>
            <a:off x="332047" y="1457131"/>
            <a:ext cx="388228" cy="431817"/>
          </a:xfrm>
          <a:custGeom>
            <a:avLst/>
            <a:gdLst/>
            <a:ahLst/>
            <a:cxnLst/>
            <a:rect l="l" t="t" r="r" b="b"/>
            <a:pathLst>
              <a:path w="388228" h="431817">
                <a:moveTo>
                  <a:pt x="45871" y="0"/>
                </a:moveTo>
                <a:moveTo>
                  <a:pt x="45871" y="0"/>
                </a:moveTo>
                <a:lnTo>
                  <a:pt x="342357" y="0"/>
                </a:lnTo>
                <a:quadBezTo>
                  <a:pt x="388228" y="0"/>
                  <a:pt x="388228" y="45871"/>
                </a:quadBezTo>
                <a:lnTo>
                  <a:pt x="388228" y="385946"/>
                </a:lnTo>
                <a:quadBezTo>
                  <a:pt x="388228" y="431817"/>
                  <a:pt x="342357" y="431817"/>
                </a:quadBezTo>
                <a:lnTo>
                  <a:pt x="45871" y="431817"/>
                </a:lnTo>
                <a:quadBezTo>
                  <a:pt x="0" y="431817"/>
                  <a:pt x="0" y="385946"/>
                </a:quadBezTo>
                <a:lnTo>
                  <a:pt x="0" y="45871"/>
                </a:lnTo>
                <a:quadBezTo>
                  <a:pt x="0" y="0"/>
                  <a:pt x="45871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6"/>
          <p:cNvSpPr/>
          <p:nvPr/>
        </p:nvSpPr>
        <p:spPr>
          <a:xfrm>
            <a:off x="299240" y="1417007"/>
            <a:ext cx="70841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332047" y="2754957"/>
            <a:ext cx="388228" cy="431817"/>
          </a:xfrm>
          <a:custGeom>
            <a:avLst/>
            <a:gdLst/>
            <a:ahLst/>
            <a:cxnLst/>
            <a:rect l="l" t="t" r="r" b="b"/>
            <a:pathLst>
              <a:path w="388228" h="431817">
                <a:moveTo>
                  <a:pt x="45871" y="0"/>
                </a:moveTo>
                <a:moveTo>
                  <a:pt x="45871" y="0"/>
                </a:moveTo>
                <a:lnTo>
                  <a:pt x="342357" y="0"/>
                </a:lnTo>
                <a:quadBezTo>
                  <a:pt x="388228" y="0"/>
                  <a:pt x="388228" y="45871"/>
                </a:quadBezTo>
                <a:lnTo>
                  <a:pt x="388228" y="385946"/>
                </a:lnTo>
                <a:quadBezTo>
                  <a:pt x="388228" y="431817"/>
                  <a:pt x="342357" y="431817"/>
                </a:quadBezTo>
                <a:lnTo>
                  <a:pt x="45871" y="431817"/>
                </a:lnTo>
                <a:quadBezTo>
                  <a:pt x="0" y="431817"/>
                  <a:pt x="0" y="385946"/>
                </a:quadBezTo>
                <a:lnTo>
                  <a:pt x="0" y="45871"/>
                </a:lnTo>
                <a:quadBezTo>
                  <a:pt x="0" y="0"/>
                  <a:pt x="45871" y="0"/>
                </a:quad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Shape 8"/>
          <p:cNvSpPr/>
          <p:nvPr/>
        </p:nvSpPr>
        <p:spPr>
          <a:xfrm>
            <a:off x="332047" y="4052784"/>
            <a:ext cx="388228" cy="431817"/>
          </a:xfrm>
          <a:custGeom>
            <a:avLst/>
            <a:gdLst/>
            <a:ahLst/>
            <a:cxnLst/>
            <a:rect l="l" t="t" r="r" b="b"/>
            <a:pathLst>
              <a:path w="388228" h="431817">
                <a:moveTo>
                  <a:pt x="45871" y="0"/>
                </a:moveTo>
                <a:moveTo>
                  <a:pt x="45871" y="0"/>
                </a:moveTo>
                <a:lnTo>
                  <a:pt x="342357" y="0"/>
                </a:lnTo>
                <a:quadBezTo>
                  <a:pt x="388228" y="0"/>
                  <a:pt x="388228" y="45871"/>
                </a:quadBezTo>
                <a:lnTo>
                  <a:pt x="388228" y="385946"/>
                </a:lnTo>
                <a:quadBezTo>
                  <a:pt x="388228" y="431817"/>
                  <a:pt x="342357" y="431817"/>
                </a:quadBezTo>
                <a:lnTo>
                  <a:pt x="45871" y="431817"/>
                </a:lnTo>
                <a:quadBezTo>
                  <a:pt x="0" y="431817"/>
                  <a:pt x="0" y="385946"/>
                </a:quadBezTo>
                <a:lnTo>
                  <a:pt x="0" y="45871"/>
                </a:lnTo>
                <a:quadBezTo>
                  <a:pt x="0" y="0"/>
                  <a:pt x="45871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9"/>
          <p:cNvSpPr/>
          <p:nvPr/>
        </p:nvSpPr>
        <p:spPr>
          <a:xfrm>
            <a:off x="299240" y="4012660"/>
            <a:ext cx="70841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299240" y="2714834"/>
            <a:ext cx="70841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1759007" y="1456516"/>
            <a:ext cx="2441294" cy="43304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4282090" y="1392926"/>
            <a:ext cx="4235514" cy="560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 qua nhiều services, logs phân tán, khó trace lỗi.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1759007" y="2754343"/>
            <a:ext cx="2441294" cy="43304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</a:t>
            </a:r>
            <a:endParaRPr lang="en-US" sz="1440" dirty="0"/>
          </a:p>
        </p:txBody>
      </p:sp>
      <p:sp>
        <p:nvSpPr>
          <p:cNvPr id="21" name="Text 14"/>
          <p:cNvSpPr/>
          <p:nvPr/>
        </p:nvSpPr>
        <p:spPr>
          <a:xfrm>
            <a:off x="4282090" y="2690753"/>
            <a:ext cx="4235514" cy="560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Correlation ID, Centralized Logging, Distributed Tracing.</a:t>
            </a:r>
            <a:endParaRPr lang="en-US" sz="1440" dirty="0"/>
          </a:p>
        </p:txBody>
      </p:sp>
      <p:sp>
        <p:nvSpPr>
          <p:cNvPr id="22" name="Text 15"/>
          <p:cNvSpPr/>
          <p:nvPr/>
        </p:nvSpPr>
        <p:spPr>
          <a:xfrm>
            <a:off x="1759007" y="4052169"/>
            <a:ext cx="2441294" cy="43304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năng đạt được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4282090" y="3988579"/>
            <a:ext cx="4235514" cy="560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logs, debug flows bất đồng bộ, trace requests.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 việc với Redis Geospatial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157" y="995360"/>
            <a:ext cx="2768058" cy="3612311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47702" y="4604330"/>
            <a:ext cx="828261" cy="0"/>
          </a:xfrm>
          <a:custGeom>
            <a:avLst/>
            <a:gdLst/>
            <a:ahLst/>
            <a:cxnLst/>
            <a:rect l="l" t="t" r="r" b="b"/>
            <a:pathLst>
              <a:path w="828261">
                <a:moveTo>
                  <a:pt x="828261" y="0"/>
                </a:moveTo>
                <a:moveTo>
                  <a:pt x="828261" y="0"/>
                </a:moveTo>
                <a:lnTo>
                  <a:pt x="0" y="0"/>
                </a:lnTo>
              </a:path>
            </a:pathLst>
          </a:custGeom>
          <a:noFill/>
          <a:ln w="77974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3"/>
          <p:cNvSpPr/>
          <p:nvPr/>
        </p:nvSpPr>
        <p:spPr>
          <a:xfrm>
            <a:off x="610512" y="2057346"/>
            <a:ext cx="2189321" cy="0"/>
          </a:xfrm>
          <a:custGeom>
            <a:avLst/>
            <a:gdLst/>
            <a:ahLst/>
            <a:cxnLst/>
            <a:rect l="l" t="t" r="r" b="b"/>
            <a:pathLst>
              <a:path w="2189321">
                <a:moveTo>
                  <a:pt x="0" y="0"/>
                </a:moveTo>
                <a:moveTo>
                  <a:pt x="0" y="0"/>
                </a:moveTo>
                <a:lnTo>
                  <a:pt x="2189321" y="0"/>
                </a:lnTo>
              </a:path>
            </a:pathLst>
          </a:custGeom>
          <a:noFill/>
          <a:ln w="9747">
            <a:solidFill>
              <a:srgbClr val="5049D5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157" y="995360"/>
            <a:ext cx="1002281" cy="125285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6067" y="1371943"/>
            <a:ext cx="1979404" cy="35556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397476" y="2220901"/>
            <a:ext cx="254799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 cách lưu trữ, chọn commands, tối ưu cho 10,000+ tài xế.</a:t>
            </a:r>
            <a:endParaRPr lang="en-US" sz="144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7971" y="1017214"/>
            <a:ext cx="2768058" cy="3612311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132516" y="4621778"/>
            <a:ext cx="828261" cy="0"/>
          </a:xfrm>
          <a:custGeom>
            <a:avLst/>
            <a:gdLst/>
            <a:ahLst/>
            <a:cxnLst/>
            <a:rect l="l" t="t" r="r" b="b"/>
            <a:pathLst>
              <a:path w="828261">
                <a:moveTo>
                  <a:pt x="828261" y="0"/>
                </a:moveTo>
                <a:moveTo>
                  <a:pt x="828261" y="0"/>
                </a:moveTo>
                <a:lnTo>
                  <a:pt x="0" y="0"/>
                </a:lnTo>
              </a:path>
            </a:pathLst>
          </a:custGeom>
          <a:noFill/>
          <a:ln w="77974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7"/>
          <p:cNvSpPr/>
          <p:nvPr/>
        </p:nvSpPr>
        <p:spPr>
          <a:xfrm>
            <a:off x="3495326" y="2074794"/>
            <a:ext cx="2189321" cy="0"/>
          </a:xfrm>
          <a:custGeom>
            <a:avLst/>
            <a:gdLst/>
            <a:ahLst/>
            <a:cxnLst/>
            <a:rect l="l" t="t" r="r" b="b"/>
            <a:pathLst>
              <a:path w="2189321">
                <a:moveTo>
                  <a:pt x="0" y="0"/>
                </a:moveTo>
                <a:moveTo>
                  <a:pt x="0" y="0"/>
                </a:moveTo>
                <a:lnTo>
                  <a:pt x="2189321" y="0"/>
                </a:lnTo>
              </a:path>
            </a:pathLst>
          </a:custGeom>
          <a:noFill/>
          <a:ln w="9747">
            <a:solidFill>
              <a:srgbClr val="5196FF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971" y="1012808"/>
            <a:ext cx="1002281" cy="125285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850882" y="1343872"/>
            <a:ext cx="1979404" cy="383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282290" y="2238349"/>
            <a:ext cx="254799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GEOADD cho write, GEORADIUS với COUNT limit, WITHDIST lấy khoảng cách.</a:t>
            </a:r>
            <a:endParaRPr lang="en-US" sz="144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785" y="1006287"/>
            <a:ext cx="2768058" cy="3612311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7017330" y="4613054"/>
            <a:ext cx="828261" cy="0"/>
          </a:xfrm>
          <a:custGeom>
            <a:avLst/>
            <a:gdLst/>
            <a:ahLst/>
            <a:cxnLst/>
            <a:rect l="l" t="t" r="r" b="b"/>
            <a:pathLst>
              <a:path w="828261">
                <a:moveTo>
                  <a:pt x="828261" y="0"/>
                </a:moveTo>
                <a:moveTo>
                  <a:pt x="828261" y="0"/>
                </a:moveTo>
                <a:lnTo>
                  <a:pt x="0" y="0"/>
                </a:lnTo>
              </a:path>
            </a:pathLst>
          </a:custGeom>
          <a:noFill/>
          <a:ln w="77974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1"/>
          <p:cNvSpPr/>
          <p:nvPr/>
        </p:nvSpPr>
        <p:spPr>
          <a:xfrm>
            <a:off x="6380141" y="2066070"/>
            <a:ext cx="2189321" cy="0"/>
          </a:xfrm>
          <a:custGeom>
            <a:avLst/>
            <a:gdLst/>
            <a:ahLst/>
            <a:cxnLst/>
            <a:rect l="l" t="t" r="r" b="b"/>
            <a:pathLst>
              <a:path w="2189321">
                <a:moveTo>
                  <a:pt x="0" y="0"/>
                </a:moveTo>
                <a:moveTo>
                  <a:pt x="0" y="0"/>
                </a:moveTo>
                <a:lnTo>
                  <a:pt x="2189321" y="0"/>
                </a:lnTo>
              </a:path>
            </a:pathLst>
          </a:custGeom>
          <a:noFill/>
          <a:ln w="9747">
            <a:solidFill>
              <a:srgbClr val="5049D5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785" y="1004084"/>
            <a:ext cx="1002281" cy="125285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735696" y="1343872"/>
            <a:ext cx="1979404" cy="35556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năng đạt được</a:t>
            </a:r>
            <a:endParaRPr lang="en-US" sz="1440" dirty="0"/>
          </a:p>
        </p:txBody>
      </p:sp>
      <p:sp>
        <p:nvSpPr>
          <p:cNvPr id="23" name="Text 13"/>
          <p:cNvSpPr/>
          <p:nvPr/>
        </p:nvSpPr>
        <p:spPr>
          <a:xfrm>
            <a:off x="6167105" y="2229625"/>
            <a:ext cx="254799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redis-cli, hiểu sorted sets và GEOHASH, performance tuning.</a:t>
            </a:r>
            <a:endParaRPr lang="en-US" sz="144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2290" y="1199069"/>
            <a:ext cx="326441" cy="280721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4537" y="1212952"/>
            <a:ext cx="272491" cy="272491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" y="1192378"/>
            <a:ext cx="296266" cy="2505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message flow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38" y="1163096"/>
            <a:ext cx="8135797" cy="323592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26" y="1429421"/>
            <a:ext cx="401272" cy="416328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3089" y="1163096"/>
            <a:ext cx="436171" cy="44705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9362" y="1261609"/>
            <a:ext cx="436171" cy="44705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376390" y="2049383"/>
            <a:ext cx="1914148" cy="356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 RabbitMQ</a:t>
            </a:r>
            <a:endParaRPr lang="en-US" sz="1440" dirty="0"/>
          </a:p>
        </p:txBody>
      </p:sp>
      <p:sp>
        <p:nvSpPr>
          <p:cNvPr id="11" name="Text 3"/>
          <p:cNvSpPr/>
          <p:nvPr/>
        </p:nvSpPr>
        <p:spPr>
          <a:xfrm>
            <a:off x="376390" y="2405999"/>
            <a:ext cx="191414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 Exchange, Queue, Binding concepts và đảm bảo messages không bị mất.</a:t>
            </a:r>
            <a:endParaRPr lang="en-US" sz="1440" dirty="0"/>
          </a:p>
        </p:txBody>
      </p:sp>
      <p:sp>
        <p:nvSpPr>
          <p:cNvPr id="12" name="Text 4"/>
          <p:cNvSpPr/>
          <p:nvPr/>
        </p:nvSpPr>
        <p:spPr>
          <a:xfrm>
            <a:off x="2576779" y="1866290"/>
            <a:ext cx="1913839" cy="356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 quan trọng</a:t>
            </a:r>
            <a:endParaRPr lang="en-US" sz="1440" dirty="0"/>
          </a:p>
        </p:txBody>
      </p:sp>
      <p:sp>
        <p:nvSpPr>
          <p:cNvPr id="13" name="Text 5"/>
          <p:cNvSpPr/>
          <p:nvPr/>
        </p:nvSpPr>
        <p:spPr>
          <a:xfrm>
            <a:off x="2576503" y="2223821"/>
            <a:ext cx="1913839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Durable Queues, Manual ACK, Dead Letter Queue và Retry Logic.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4703674" y="2141525"/>
            <a:ext cx="1913839" cy="356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năng đạt được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4703612" y="2499055"/>
            <a:ext cx="1913839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Management UI, Spring AMQP và debug message flow.</a:t>
            </a:r>
            <a:endParaRPr lang="en-US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Triển khai gRPC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6674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Lý do chọn gRPC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4476334787_onc8ET.jpg"/>
          <p:cNvPicPr>
            <a:picLocks noChangeAspect="1"/>
          </p:cNvPicPr>
          <p:nvPr/>
        </p:nvPicPr>
        <p:blipFill>
          <a:blip r:embed="rId6"/>
          <a:srcRect l="12547" r="12547"/>
          <a:stretch/>
        </p:blipFill>
        <p:spPr>
          <a:xfrm>
            <a:off x="3401524" y="1043680"/>
            <a:ext cx="2340953" cy="17557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1053" y="1526134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Tiết kiệm 95% băng thông, giảm 82% độ trễ, tiết kiệm 57% pin thiết bị.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76674" y="296082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Ưu điểm kỹ thuật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4476337111_rThH9z.jpg"/>
          <p:cNvPicPr>
            <a:picLocks noChangeAspect="1"/>
          </p:cNvPicPr>
          <p:nvPr/>
        </p:nvPicPr>
        <p:blipFill>
          <a:blip r:embed="rId7"/>
          <a:srcRect l="12547" r="12547"/>
          <a:stretch/>
        </p:blipFill>
        <p:spPr>
          <a:xfrm>
            <a:off x="3401524" y="2939380"/>
            <a:ext cx="2340953" cy="17557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7530" y="3414935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Type safety với Protocol Buffers, streaming hiệu quả, xử lý 2000 cập nhật/giây.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5897880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Trade-offs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5897880" y="1526112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Đường cong học tập cao, debugging khó hơn, hỗ trợ browser hạn chế.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5897880" y="2960805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Kết quả đạt được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04358" y="3414935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CPU usage thấp hơn REST, tiết kiệm 644MB/giờ cho 1000 tài xế.</a:t>
            </a:r>
            <a:endParaRPr lang="en-US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Docker Compose Orchestration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9806" y="1111567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container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4476338984_wXWMxa.jpg"/>
          <p:cNvPicPr>
            <a:picLocks noChangeAspect="1"/>
          </p:cNvPicPr>
          <p:nvPr/>
        </p:nvPicPr>
        <p:blipFill>
          <a:blip r:embed="rId6"/>
          <a:srcRect t="9839" b="9839"/>
          <a:stretch/>
        </p:blipFill>
        <p:spPr>
          <a:xfrm>
            <a:off x="449806" y="2978669"/>
            <a:ext cx="1994265" cy="15954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9806" y="1474916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Điều phối 9 container gồm 5 ứng dụng và 4 hạ tầng.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520945" y="2978669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Thứ tự khởi động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4476343157_XCONAc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520945" y="1111567"/>
            <a:ext cx="1994265" cy="15954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20945" y="3368922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depends_on đảm bảo cơ sở dữ liệu sẵn sàng trước khi ứng dụng chạy.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4610373" y="1111567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 tra sức khỏe</a:t>
            </a:r>
            <a:endParaRPr lang="en-US" sz="1440" dirty="0"/>
          </a:p>
        </p:txBody>
      </p:sp>
      <p:pic>
        <p:nvPicPr>
          <p:cNvPr id="13" name="Image 4" descr="https://oceandoc-ai.obs.ap-southeast-3.myhuaweicloud.com:443/image_1764476346968_0cQuzw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610373" y="2978669"/>
            <a:ext cx="1994265" cy="15954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10373" y="1474916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Triển khai health checks cho Postgres, Redis và RabbitMQ.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6699801" y="2978669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Mạng và dữ liệu</a:t>
            </a:r>
            <a:endParaRPr lang="en-US" sz="1440" dirty="0"/>
          </a:p>
        </p:txBody>
      </p:sp>
      <p:pic>
        <p:nvPicPr>
          <p:cNvPr id="16" name="Image 5" descr="https://oceandoc-ai.obs.ap-southeast-3.myhuaweicloud.com:443/image_1764476350495_AVYnta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699801" y="1111567"/>
            <a:ext cx="1994265" cy="159541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99801" y="3368922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bridge network cho service discovery và volumes để lưu trữ dữ liệu.</a:t>
            </a:r>
            <a:endParaRPr lang="en-US" sz="14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và hướng phát triển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Chức năng đã hoàn thành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4378" y="2935224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3339389" y="293531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84378" y="99443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3339389" y="994867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2" descr="https://oceandoc-ai.obs.ap-southeast-3.myhuaweicloud.com:443/image_1764476337636_q6qgne.jpg"/>
          <p:cNvPicPr>
            <a:picLocks noChangeAspect="1"/>
          </p:cNvPicPr>
          <p:nvPr/>
        </p:nvPicPr>
        <p:blipFill>
          <a:blip r:embed="rId6"/>
          <a:srcRect l="30924" r="28916"/>
          <a:stretch/>
        </p:blipFill>
        <p:spPr>
          <a:xfrm>
            <a:off x="6336866" y="994431"/>
            <a:ext cx="2522809" cy="35324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4637" y="1024108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Đăng ký và đăng nhập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284637" y="1533044"/>
            <a:ext cx="284748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xác thực cho hành khách và tài xế, phân quyền người dùng.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338939" y="1024108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Tạo chuyến đi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338939" y="1533044"/>
            <a:ext cx="283726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Ước tính giá cước, tìm tài xế gần nhất qua Redis Geospatial.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84637" y="2964989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Thông báo bất đồng bộ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84637" y="3474012"/>
            <a:ext cx="284748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 gửi thông báo chuyến đi đến tài xế gần đó.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3338939" y="2964989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Cập nhật vị trí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3338939" y="3474012"/>
            <a:ext cx="283726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gRPC streaming cập nhật vị trí tài xế theo thời gian thực.</a:t>
            </a:r>
            <a:endParaRPr lang="en-US" sz="14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Hiệu suất đạt được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38792" y="1064374"/>
            <a:ext cx="5164082" cy="969023"/>
          </a:xfrm>
          <a:custGeom>
            <a:avLst/>
            <a:gdLst/>
            <a:ahLst/>
            <a:cxnLst/>
            <a:rect l="l" t="t" r="r" b="b"/>
            <a:pathLst>
              <a:path w="5164082" h="969023">
                <a:moveTo>
                  <a:pt x="111280" y="0"/>
                </a:moveTo>
                <a:moveTo>
                  <a:pt x="111280" y="0"/>
                </a:moveTo>
                <a:lnTo>
                  <a:pt x="5052802" y="0"/>
                </a:lnTo>
                <a:quadBezTo>
                  <a:pt x="5164082" y="0"/>
                  <a:pt x="5164082" y="91952"/>
                </a:quadBezTo>
                <a:lnTo>
                  <a:pt x="5164082" y="877071"/>
                </a:lnTo>
                <a:quadBezTo>
                  <a:pt x="5164082" y="969023"/>
                  <a:pt x="5052802" y="969023"/>
                </a:quadBezTo>
                <a:lnTo>
                  <a:pt x="111280" y="969023"/>
                </a:lnTo>
                <a:quadBezTo>
                  <a:pt x="0" y="969023"/>
                  <a:pt x="0" y="877071"/>
                </a:quadBezTo>
                <a:lnTo>
                  <a:pt x="0" y="91952"/>
                </a:lnTo>
                <a:quadBezTo>
                  <a:pt x="0" y="0"/>
                  <a:pt x="1112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25400" dir="2700000" algn="bl" rotWithShape="0">
              <a:srgbClr val="DADADA">
                <a:alpha val="10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330900" y="1170001"/>
            <a:ext cx="757769" cy="75776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13" y="1064374"/>
            <a:ext cx="3274332" cy="969023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28675" y="1234611"/>
            <a:ext cx="628549" cy="628549"/>
          </a:xfrm>
          <a:custGeom>
            <a:avLst/>
            <a:gdLst/>
            <a:ahLst/>
            <a:cxnLst/>
            <a:rect l="l" t="t" r="r" b="b"/>
            <a:pathLst>
              <a:path w="628549" h="628549">
                <a:moveTo>
                  <a:pt x="314274" y="0"/>
                </a:moveTo>
                <a:moveTo>
                  <a:pt x="314274" y="0"/>
                </a:moveTo>
                <a:cubicBezTo>
                  <a:pt x="487727" y="0"/>
                  <a:pt x="628549" y="140822"/>
                  <a:pt x="628549" y="314274"/>
                </a:cubicBezTo>
                <a:cubicBezTo>
                  <a:pt x="628549" y="487727"/>
                  <a:pt x="487727" y="628549"/>
                  <a:pt x="314274" y="628549"/>
                </a:cubicBezTo>
                <a:cubicBezTo>
                  <a:pt x="140822" y="628549"/>
                  <a:pt x="0" y="487727"/>
                  <a:pt x="0" y="314274"/>
                </a:cubicBezTo>
                <a:cubicBezTo>
                  <a:pt x="0" y="140822"/>
                  <a:pt x="140822" y="0"/>
                  <a:pt x="31427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320" y="1410255"/>
            <a:ext cx="277260" cy="2772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57224" y="1356861"/>
            <a:ext cx="212313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Vượt mục tiêu</a:t>
            </a:r>
            <a:endParaRPr lang="en-US" sz="1440" dirty="0"/>
          </a:p>
        </p:txBody>
      </p:sp>
      <p:sp>
        <p:nvSpPr>
          <p:cNvPr id="12" name="Text 5"/>
          <p:cNvSpPr/>
          <p:nvPr/>
        </p:nvSpPr>
        <p:spPr>
          <a:xfrm>
            <a:off x="4193049" y="1064374"/>
            <a:ext cx="4626983" cy="9690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Độ trễ tìm tài xế 5-8ms, cập nhật vị trí 8ms, tạo chuyến đi 150ms.</a:t>
            </a:r>
            <a:endParaRPr lang="en-US" sz="1440" dirty="0"/>
          </a:p>
        </p:txBody>
      </p:sp>
      <p:sp>
        <p:nvSpPr>
          <p:cNvPr id="13" name="Shape 6"/>
          <p:cNvSpPr/>
          <p:nvPr/>
        </p:nvSpPr>
        <p:spPr>
          <a:xfrm>
            <a:off x="3738792" y="2326835"/>
            <a:ext cx="5164082" cy="969023"/>
          </a:xfrm>
          <a:custGeom>
            <a:avLst/>
            <a:gdLst/>
            <a:ahLst/>
            <a:cxnLst/>
            <a:rect l="l" t="t" r="r" b="b"/>
            <a:pathLst>
              <a:path w="5164082" h="969023">
                <a:moveTo>
                  <a:pt x="111280" y="0"/>
                </a:moveTo>
                <a:moveTo>
                  <a:pt x="111280" y="0"/>
                </a:moveTo>
                <a:lnTo>
                  <a:pt x="5052802" y="0"/>
                </a:lnTo>
                <a:quadBezTo>
                  <a:pt x="5164082" y="0"/>
                  <a:pt x="5164082" y="91952"/>
                </a:quadBezTo>
                <a:lnTo>
                  <a:pt x="5164082" y="877071"/>
                </a:lnTo>
                <a:quadBezTo>
                  <a:pt x="5164082" y="969023"/>
                  <a:pt x="5052802" y="969023"/>
                </a:quadBezTo>
                <a:lnTo>
                  <a:pt x="111280" y="969023"/>
                </a:lnTo>
                <a:quadBezTo>
                  <a:pt x="0" y="969023"/>
                  <a:pt x="0" y="877071"/>
                </a:quadBezTo>
                <a:lnTo>
                  <a:pt x="0" y="91952"/>
                </a:lnTo>
                <a:quadBezTo>
                  <a:pt x="0" y="0"/>
                  <a:pt x="1112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25400" dir="2700000" algn="bl" rotWithShape="0">
              <a:srgbClr val="DADADA">
                <a:alpha val="10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330900" y="2432462"/>
            <a:ext cx="757769" cy="757769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013" y="2326835"/>
            <a:ext cx="3274332" cy="969023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528675" y="2497072"/>
            <a:ext cx="628549" cy="628549"/>
          </a:xfrm>
          <a:custGeom>
            <a:avLst/>
            <a:gdLst/>
            <a:ahLst/>
            <a:cxnLst/>
            <a:rect l="l" t="t" r="r" b="b"/>
            <a:pathLst>
              <a:path w="628549" h="628549">
                <a:moveTo>
                  <a:pt x="314274" y="0"/>
                </a:moveTo>
                <a:moveTo>
                  <a:pt x="314274" y="0"/>
                </a:moveTo>
                <a:cubicBezTo>
                  <a:pt x="487727" y="0"/>
                  <a:pt x="628549" y="140822"/>
                  <a:pt x="628549" y="314274"/>
                </a:cubicBezTo>
                <a:cubicBezTo>
                  <a:pt x="628549" y="487727"/>
                  <a:pt x="487727" y="628549"/>
                  <a:pt x="314274" y="628549"/>
                </a:cubicBezTo>
                <a:cubicBezTo>
                  <a:pt x="140822" y="628549"/>
                  <a:pt x="0" y="487727"/>
                  <a:pt x="0" y="314274"/>
                </a:cubicBezTo>
                <a:cubicBezTo>
                  <a:pt x="0" y="140822"/>
                  <a:pt x="140822" y="0"/>
                  <a:pt x="31427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8"/>
          <p:cNvSpPr/>
          <p:nvPr/>
        </p:nvSpPr>
        <p:spPr>
          <a:xfrm>
            <a:off x="1157224" y="2619323"/>
            <a:ext cx="2123132" cy="3474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Khả năng mở rộng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4193049" y="2326835"/>
            <a:ext cx="4626983" cy="9690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Hỗ trợ 10,000+ tài xế đồng thời, xử lý 2,000 tin nhắn/giây.</a:t>
            </a:r>
            <a:endParaRPr lang="en-US" sz="1440" dirty="0"/>
          </a:p>
        </p:txBody>
      </p:sp>
      <p:sp>
        <p:nvSpPr>
          <p:cNvPr id="19" name="Shape 10"/>
          <p:cNvSpPr/>
          <p:nvPr/>
        </p:nvSpPr>
        <p:spPr>
          <a:xfrm>
            <a:off x="3738792" y="3589296"/>
            <a:ext cx="5164082" cy="969023"/>
          </a:xfrm>
          <a:custGeom>
            <a:avLst/>
            <a:gdLst/>
            <a:ahLst/>
            <a:cxnLst/>
            <a:rect l="l" t="t" r="r" b="b"/>
            <a:pathLst>
              <a:path w="5164082" h="969023">
                <a:moveTo>
                  <a:pt x="111280" y="0"/>
                </a:moveTo>
                <a:moveTo>
                  <a:pt x="111280" y="0"/>
                </a:moveTo>
                <a:lnTo>
                  <a:pt x="5052802" y="0"/>
                </a:lnTo>
                <a:quadBezTo>
                  <a:pt x="5164082" y="0"/>
                  <a:pt x="5164082" y="91952"/>
                </a:quadBezTo>
                <a:lnTo>
                  <a:pt x="5164082" y="877071"/>
                </a:lnTo>
                <a:quadBezTo>
                  <a:pt x="5164082" y="969023"/>
                  <a:pt x="5052802" y="969023"/>
                </a:quadBezTo>
                <a:lnTo>
                  <a:pt x="111280" y="969023"/>
                </a:lnTo>
                <a:quadBezTo>
                  <a:pt x="0" y="969023"/>
                  <a:pt x="0" y="877071"/>
                </a:quadBezTo>
                <a:lnTo>
                  <a:pt x="0" y="91952"/>
                </a:lnTo>
                <a:quadBezTo>
                  <a:pt x="0" y="0"/>
                  <a:pt x="1112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25400" dir="2700000" algn="bl" rotWithShape="0">
              <a:srgbClr val="DADADA">
                <a:alpha val="10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330900" y="3694923"/>
            <a:ext cx="757769" cy="757769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13" y="3589296"/>
            <a:ext cx="3274332" cy="969023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528675" y="3759533"/>
            <a:ext cx="628549" cy="628549"/>
          </a:xfrm>
          <a:custGeom>
            <a:avLst/>
            <a:gdLst/>
            <a:ahLst/>
            <a:cxnLst/>
            <a:rect l="l" t="t" r="r" b="b"/>
            <a:pathLst>
              <a:path w="628549" h="628549">
                <a:moveTo>
                  <a:pt x="314274" y="0"/>
                </a:moveTo>
                <a:moveTo>
                  <a:pt x="314274" y="0"/>
                </a:moveTo>
                <a:cubicBezTo>
                  <a:pt x="487727" y="0"/>
                  <a:pt x="628549" y="140822"/>
                  <a:pt x="628549" y="314274"/>
                </a:cubicBezTo>
                <a:cubicBezTo>
                  <a:pt x="628549" y="487727"/>
                  <a:pt x="487727" y="628549"/>
                  <a:pt x="314274" y="628549"/>
                </a:cubicBezTo>
                <a:cubicBezTo>
                  <a:pt x="140822" y="628549"/>
                  <a:pt x="0" y="487727"/>
                  <a:pt x="0" y="314274"/>
                </a:cubicBezTo>
                <a:cubicBezTo>
                  <a:pt x="0" y="140822"/>
                  <a:pt x="140822" y="0"/>
                  <a:pt x="31427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12"/>
          <p:cNvSpPr/>
          <p:nvPr/>
        </p:nvSpPr>
        <p:spPr>
          <a:xfrm>
            <a:off x="1157224" y="3881784"/>
            <a:ext cx="212313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Hiệu quả tài nguyên</a:t>
            </a:r>
            <a:endParaRPr lang="en-US" sz="1440" dirty="0"/>
          </a:p>
        </p:txBody>
      </p:sp>
      <p:sp>
        <p:nvSpPr>
          <p:cNvPr id="24" name="Text 13"/>
          <p:cNvSpPr/>
          <p:nvPr/>
        </p:nvSpPr>
        <p:spPr>
          <a:xfrm>
            <a:off x="4193049" y="3589296"/>
            <a:ext cx="4626983" cy="9690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RAM ~2GB, tiết kiệm 95% băng thông, 57% pin thiết bị di động.</a:t>
            </a:r>
            <a:endParaRPr lang="en-US" sz="144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475" y="2666871"/>
            <a:ext cx="288950" cy="28895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362" y="3941220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Hạn chế hiện tại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39190" y="1199462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Text 3"/>
          <p:cNvSpPr/>
          <p:nvPr/>
        </p:nvSpPr>
        <p:spPr>
          <a:xfrm>
            <a:off x="4489704" y="1182409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4"/>
          <p:cNvSpPr/>
          <p:nvPr/>
        </p:nvSpPr>
        <p:spPr>
          <a:xfrm>
            <a:off x="4539190" y="2510501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5"/>
          <p:cNvSpPr/>
          <p:nvPr/>
        </p:nvSpPr>
        <p:spPr>
          <a:xfrm>
            <a:off x="4489704" y="2485538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4539190" y="3796446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7"/>
          <p:cNvSpPr/>
          <p:nvPr/>
        </p:nvSpPr>
        <p:spPr>
          <a:xfrm>
            <a:off x="4489704" y="3779392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5308783" y="1048878"/>
            <a:ext cx="351519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Chức năng chưa hoàn thiện</a:t>
            </a:r>
            <a:endParaRPr lang="en-US" sz="1440" dirty="0"/>
          </a:p>
        </p:txBody>
      </p:sp>
      <p:pic>
        <p:nvPicPr>
          <p:cNvPr id="13" name="Image 2" descr="https://oceandoc-ai.obs.ap-southeast-3.myhuaweicloud.com:443/image_1764476343691_qJlj97.jpg"/>
          <p:cNvPicPr>
            <a:picLocks noChangeAspect="1"/>
          </p:cNvPicPr>
          <p:nvPr/>
        </p:nvPicPr>
        <p:blipFill>
          <a:blip r:embed="rId6"/>
          <a:srcRect l="16667" r="16667"/>
          <a:stretch/>
        </p:blipFill>
        <p:spPr>
          <a:xfrm>
            <a:off x="1387015" y="1516495"/>
            <a:ext cx="1684301" cy="25264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8783" y="1361660"/>
            <a:ext cx="351545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Chưa có xử lý thanh toán, theo dõi thời gian thực, đánh giá tài xế.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5308783" y="2359916"/>
            <a:ext cx="351519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Nợ kỹ thuật</a:t>
            </a:r>
            <a:endParaRPr lang="en-US" sz="1440" dirty="0"/>
          </a:p>
        </p:txBody>
      </p:sp>
      <p:pic>
        <p:nvPicPr>
          <p:cNvPr id="16" name="Image 3" descr="https://oceandoc-ai.obs.ap-southeast-3.myhuaweicloud.com:443/image_1764476347359_ALzqsn.jpg"/>
          <p:cNvPicPr>
            <a:picLocks noChangeAspect="1"/>
          </p:cNvPicPr>
          <p:nvPr/>
        </p:nvPicPr>
        <p:blipFill>
          <a:blip r:embed="rId7"/>
          <a:srcRect l="16667" r="16667"/>
          <a:stretch/>
        </p:blipFill>
        <p:spPr>
          <a:xfrm>
            <a:off x="261899" y="2034759"/>
            <a:ext cx="993283" cy="14899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8783" y="2672699"/>
            <a:ext cx="351545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Cần cải thiện unit test, integration test, load test, bảo mật.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5308783" y="3645861"/>
            <a:ext cx="351519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Vận hành</a:t>
            </a:r>
            <a:endParaRPr lang="en-US" sz="1440" dirty="0"/>
          </a:p>
        </p:txBody>
      </p:sp>
      <p:pic>
        <p:nvPicPr>
          <p:cNvPr id="19" name="Image 4" descr="https://oceandoc-ai.obs.ap-southeast-3.myhuaweicloud.com:443/image_1764476350245_bsqgLJ.jpg"/>
          <p:cNvPicPr>
            <a:picLocks noChangeAspect="1"/>
          </p:cNvPicPr>
          <p:nvPr/>
        </p:nvPicPr>
        <p:blipFill>
          <a:blip r:embed="rId8"/>
          <a:srcRect l="16667" r="16667"/>
          <a:stretch/>
        </p:blipFill>
        <p:spPr>
          <a:xfrm>
            <a:off x="3203149" y="2034759"/>
            <a:ext cx="993283" cy="14899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8783" y="3958644"/>
            <a:ext cx="351545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Thiếu giám sát, theo dõi phân tán, ghi nhật ký tập trung.</a:t>
            </a:r>
            <a:endParaRPr lang="en-US" sz="14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 hoạch ngắn/trung/dài hạn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4476351159_Wz50rh.jpg"/>
          <p:cNvPicPr>
            <a:picLocks noChangeAspect="1"/>
          </p:cNvPicPr>
          <p:nvPr/>
        </p:nvPicPr>
        <p:blipFill>
          <a:blip r:embed="rId6"/>
          <a:srcRect t="19880" b="19880"/>
          <a:stretch/>
        </p:blipFill>
        <p:spPr>
          <a:xfrm>
            <a:off x="6215524" y="1075646"/>
            <a:ext cx="2706624" cy="1866290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4476347832_KRhDrD.jpg"/>
          <p:cNvPicPr>
            <a:picLocks noChangeAspect="1"/>
          </p:cNvPicPr>
          <p:nvPr/>
        </p:nvPicPr>
        <p:blipFill>
          <a:blip r:embed="rId7"/>
          <a:srcRect t="19880" b="19880"/>
          <a:stretch/>
        </p:blipFill>
        <p:spPr>
          <a:xfrm>
            <a:off x="3218688" y="1075646"/>
            <a:ext cx="2706624" cy="1866290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4476343900_m0qgIS.jpg"/>
          <p:cNvPicPr>
            <a:picLocks noChangeAspect="1"/>
          </p:cNvPicPr>
          <p:nvPr/>
        </p:nvPicPr>
        <p:blipFill>
          <a:blip r:embed="rId8"/>
          <a:srcRect t="19880" b="19880"/>
          <a:stretch/>
        </p:blipFill>
        <p:spPr>
          <a:xfrm>
            <a:off x="221852" y="1075646"/>
            <a:ext cx="2706624" cy="18662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364479" y="2717380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3"/>
          <p:cNvSpPr/>
          <p:nvPr/>
        </p:nvSpPr>
        <p:spPr>
          <a:xfrm>
            <a:off x="1330579" y="2672034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Shape 4"/>
          <p:cNvSpPr/>
          <p:nvPr/>
        </p:nvSpPr>
        <p:spPr>
          <a:xfrm>
            <a:off x="4361314" y="2717380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Shape 5"/>
          <p:cNvSpPr/>
          <p:nvPr/>
        </p:nvSpPr>
        <p:spPr>
          <a:xfrm>
            <a:off x="7358150" y="2717380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6"/>
          <p:cNvSpPr/>
          <p:nvPr/>
        </p:nvSpPr>
        <p:spPr>
          <a:xfrm>
            <a:off x="7324251" y="2672034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4" name="Text 7"/>
          <p:cNvSpPr/>
          <p:nvPr/>
        </p:nvSpPr>
        <p:spPr>
          <a:xfrm>
            <a:off x="4327415" y="2672034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221852" y="3308940"/>
            <a:ext cx="270662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Ngắn hạn</a:t>
            </a:r>
            <a:endParaRPr lang="en-US" sz="1440" dirty="0"/>
          </a:p>
        </p:txBody>
      </p:sp>
      <p:sp>
        <p:nvSpPr>
          <p:cNvPr id="16" name="Text 9"/>
          <p:cNvSpPr/>
          <p:nvPr/>
        </p:nvSpPr>
        <p:spPr>
          <a:xfrm>
            <a:off x="221852" y="3672290"/>
            <a:ext cx="27066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Triển khai hệ thống giám sát, tăng cường bảo mật, xây dựng CI/CD và cải thiện kiểm thử.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3218688" y="3308940"/>
            <a:ext cx="270662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Trung hạn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3218688" y="3672290"/>
            <a:ext cx="27066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triển tính năng theo dõi thời gian thực, tích hợp thanh toán và tối ưu hóa hiệu suất hệ thống.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6215524" y="3308940"/>
            <a:ext cx="270662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Dài hạn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6215524" y="3672290"/>
            <a:ext cx="27066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Áp dụng kiến trúc tiên tiến, tích hợp AI/ML, hỗ trợ đa người dùng và phát triển ứng dụng di động.</a:t>
            </a:r>
            <a:endParaRPr lang="en-US" sz="14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 kinh nghiệm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89342" y="2761877"/>
            <a:ext cx="2655007" cy="29347"/>
          </a:xfrm>
          <a:custGeom>
            <a:avLst/>
            <a:gdLst/>
            <a:ahLst/>
            <a:cxnLst/>
            <a:rect l="l" t="t" r="r" b="b"/>
            <a:pathLst>
              <a:path w="2655007" h="29347">
                <a:moveTo>
                  <a:pt x="0" y="29347"/>
                </a:moveTo>
                <a:moveTo>
                  <a:pt x="0" y="29347"/>
                </a:moveTo>
                <a:lnTo>
                  <a:pt x="2655007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6065300" y="2761877"/>
            <a:ext cx="2734927" cy="0"/>
          </a:xfrm>
          <a:custGeom>
            <a:avLst/>
            <a:gdLst/>
            <a:ahLst/>
            <a:cxnLst/>
            <a:rect l="l" t="t" r="r" b="b"/>
            <a:pathLst>
              <a:path w="2734927">
                <a:moveTo>
                  <a:pt x="0" y="0"/>
                </a:moveTo>
                <a:moveTo>
                  <a:pt x="0" y="0"/>
                </a:moveTo>
                <a:lnTo>
                  <a:pt x="2734927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3034449" y="1246452"/>
            <a:ext cx="3030851" cy="3030851"/>
          </a:xfrm>
          <a:custGeom>
            <a:avLst/>
            <a:gdLst/>
            <a:ahLst/>
            <a:cxnLst/>
            <a:rect l="l" t="t" r="r" b="b"/>
            <a:pathLst>
              <a:path w="3030851" h="3030851">
                <a:moveTo>
                  <a:pt x="1515426" y="0"/>
                </a:moveTo>
                <a:moveTo>
                  <a:pt x="1515426" y="0"/>
                </a:moveTo>
                <a:cubicBezTo>
                  <a:pt x="2351812" y="0"/>
                  <a:pt x="3030851" y="679039"/>
                  <a:pt x="3030851" y="1515426"/>
                </a:cubicBezTo>
                <a:cubicBezTo>
                  <a:pt x="3030851" y="2351812"/>
                  <a:pt x="2351812" y="3030851"/>
                  <a:pt x="1515426" y="3030851"/>
                </a:cubicBezTo>
                <a:cubicBezTo>
                  <a:pt x="679039" y="3030851"/>
                  <a:pt x="0" y="2351812"/>
                  <a:pt x="0" y="1515426"/>
                </a:cubicBezTo>
                <a:cubicBezTo>
                  <a:pt x="0" y="679039"/>
                  <a:pt x="679039" y="0"/>
                  <a:pt x="1515426" y="0"/>
                </a:cubicBezTo>
                <a:close/>
              </a:path>
            </a:pathLst>
          </a:custGeom>
          <a:solidFill>
            <a:srgbClr val="5049D5">
              <a:alpha val="14118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3192009" y="1404011"/>
            <a:ext cx="2715732" cy="2715732"/>
          </a:xfrm>
          <a:custGeom>
            <a:avLst/>
            <a:gdLst/>
            <a:ahLst/>
            <a:cxnLst/>
            <a:rect l="l" t="t" r="r" b="b"/>
            <a:pathLst>
              <a:path w="2715732" h="2715732">
                <a:moveTo>
                  <a:pt x="1357866" y="0"/>
                </a:moveTo>
                <a:moveTo>
                  <a:pt x="1357866" y="0"/>
                </a:moveTo>
                <a:cubicBezTo>
                  <a:pt x="2107293" y="0"/>
                  <a:pt x="2715732" y="608439"/>
                  <a:pt x="2715732" y="1357866"/>
                </a:cubicBezTo>
                <a:cubicBezTo>
                  <a:pt x="2715732" y="2107293"/>
                  <a:pt x="2107293" y="2715732"/>
                  <a:pt x="1357866" y="2715732"/>
                </a:cubicBezTo>
                <a:cubicBezTo>
                  <a:pt x="608439" y="2715732"/>
                  <a:pt x="0" y="2107293"/>
                  <a:pt x="0" y="1357866"/>
                </a:cubicBezTo>
                <a:cubicBezTo>
                  <a:pt x="0" y="608439"/>
                  <a:pt x="608439" y="0"/>
                  <a:pt x="1357866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614" y="1510617"/>
            <a:ext cx="2502521" cy="25025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6212" y="1044273"/>
            <a:ext cx="2708683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Debug Microservices</a:t>
            </a:r>
            <a:endParaRPr lang="en-US" sz="1440" dirty="0"/>
          </a:p>
        </p:txBody>
      </p:sp>
      <p:pic>
        <p:nvPicPr>
          <p:cNvPr id="12" name="Image 3" descr="https://oceandoc-ai.obs.ap-southeast-3.myhuaweicloud.com:443/image_1764476346553_1sKmw5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5516" y="1867519"/>
            <a:ext cx="1788717" cy="1788717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0802" y="1507568"/>
            <a:ext cx="27040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Sử dụng Correlation ID, Centralized Logging, Distributed Tracing và Health Checks.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246212" y="2969711"/>
            <a:ext cx="2708683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 Geospatial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250802" y="3436055"/>
            <a:ext cx="27040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Tối ưu GEOADD, GEORADIUS với COUNT limit, monitor memory usage.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6132665" y="1044273"/>
            <a:ext cx="276222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RabbitMQ Flow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6129763" y="1507568"/>
            <a:ext cx="27651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Durable Queues, Manual ACK, Dead Letter Queue và Retry Logic.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135566" y="2969711"/>
            <a:ext cx="276222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gRPC Implementation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132665" y="3436055"/>
            <a:ext cx="27651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Học Protocol Buffers, code generation, streaming và error handling.</a:t>
            </a:r>
            <a:endParaRPr lang="en-US" sz="14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591" y="1890729"/>
            <a:ext cx="8630817" cy="10077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 for watching！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1950</Words>
  <Application>Microsoft Macintosh PowerPoint</Application>
  <PresentationFormat>On-screen Show (16:9)</PresentationFormat>
  <Paragraphs>311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Microsoft Yahei</vt:lpstr>
      <vt:lpstr>Arial</vt:lpstr>
      <vt:lpstr>Noto Sans</vt:lpstr>
      <vt:lpstr>Noto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Trần Đức Thịnh</cp:lastModifiedBy>
  <cp:revision>3</cp:revision>
  <dcterms:created xsi:type="dcterms:W3CDTF">2025-11-30T04:19:28Z</dcterms:created>
  <dcterms:modified xsi:type="dcterms:W3CDTF">2025-11-30T04:29:36Z</dcterms:modified>
</cp:coreProperties>
</file>